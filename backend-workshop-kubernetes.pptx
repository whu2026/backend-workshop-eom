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Helvetica Neue"/>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hoh3zWifKQNoCmrqTWyba4bk/6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F5776F-6AAD-4BCD-87A2-F7672675A759}">
  <a:tblStyle styleId="{82F5776F-6AAD-4BCD-87A2-F7672675A75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HelveticaNeue-bold.fntdata"/><Relationship Id="rId14" Type="http://schemas.openxmlformats.org/officeDocument/2006/relationships/slide" Target="slides/slide9.xml"/><Relationship Id="rId36" Type="http://schemas.openxmlformats.org/officeDocument/2006/relationships/font" Target="fonts/HelveticaNeue-regular.fntdata"/><Relationship Id="rId17" Type="http://schemas.openxmlformats.org/officeDocument/2006/relationships/slide" Target="slides/slide12.xml"/><Relationship Id="rId39" Type="http://schemas.openxmlformats.org/officeDocument/2006/relationships/font" Target="fonts/HelveticaNeue-boldItalic.fntdata"/><Relationship Id="rId16" Type="http://schemas.openxmlformats.org/officeDocument/2006/relationships/slide" Target="slides/slide11.xml"/><Relationship Id="rId38" Type="http://schemas.openxmlformats.org/officeDocument/2006/relationships/font" Target="fonts/HelveticaNeue-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 Minuut 0–1; 1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Jullie hebben net met SAS Studio aan dataverwerking gewerkt en in SAS Visual Analytics naar rapporten gekeken. Dat zijn de schermen waarmee je je werk doet. Achter die schermen draaien applicaties en diensten die beschikbaar moeten zijn, rekenwerk uitvoeren en gegevens uitwisselen. In dit uur kijken we naar die achterkant.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beginnen bij SAS 9 en SAS Viya. Daarna gaan jullie zelf een kleine applicatie in Kubernetes uitvoeren en bereikbaar maken. Tot slot bouwen jullie ook de image van een eigen Python-app. Het doel is dat je aan het einde kunt uitleggen wat er tussen een image en een werkende URL gebeurt.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Sluit aan bij één concreet rapport of ETL-stap uit de vorige sessie. Laat de terminals al openen.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Als je een rapport in de browser ziet, waar gebeurt het rekenwerk?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In backenddiensten en rekenprocessen; niet alles wordt in de browser uitgevoerd.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Eerst laat ik zien welke route we dit uur volgen.</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 Minuut 1–1.5; 0.5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Eerst bekijken we de architectuur van SAS 9 en SAS Viya en leren we de Kubernetes-bouwstenen kennen. Daarna deployen jullie in stap 1 zelf nginx met een eigen website. In stap 2 bouwen jullie een Python-image en deployen jullie de simulator met een vooraf beschikbare image. Jullie hoeven niets te pushen. We controleren samen de resultaten en verklaren de route naar de browser.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de route aan. Controleer dat deelnemers hun toegewezen naam en werkmap kennen.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Wat willen we aan het eind kunnen aantonen?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Dat onze eigen applicatie draait en via een verklaarbare route bereikbaar is.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We beginnen met de SAS-omgeving die jullie kennen.</a:t>
            </a:r>
            <a:endParaRPr/>
          </a:p>
        </p:txBody>
      </p:sp>
      <p:sp>
        <p:nvSpPr>
          <p:cNvPr id="25" name="Google Shape;2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3. Minuut 1.5–3.5;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Veel van jullie kennen SAS 9. Ik begin daarom met de opbouw van een gebruikelijke SAS 9.4-platformomgeving. Architectuur betekent hier: welke onderdelen zijn er en hoe werken die samen? De blokken laten functies zien; het zijn niet noodzakelijk vier afzonderlijke machines.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Bovenaan zit de gebruiker met een browser of een desktopprogramma, bijvoorbeeld Enterprise Guide. Webapplicaties gebruiken de middle tier: de laag met webservers en webapplicaties. Het SAS-rekenwerk gebeurt in de serverlaag. Een Workspace Server voert bijvoorbeeld code uit voor een interactieve sessie. Batchprocessen kunnen geplande programma’s uitvoeren. Enterprise Guide kan ook rechtstreeks met de SAS-serverlaag werken.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Onderaan staan de echte gegevens: SAS-tabellen, bestanden en databases. Daarnaast speelt de Metadata Server een centrale rol. Die bewaart beschrijvingen en instellingen, bijvoorbeeld welke bronnen er zijn en wie erbij mag. Dat is iets anders dan de meetwaarden of klantgegevens zelf.</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beheerder installeert en configureert deze software op servers of virtuele machines. Verschillende onderdelen zijn nauw met elkaar verbonden. Een verandering kan daardoor afstemming tussen meerdere componenten vragen. SAS 9 heeft dus al meerdere onderdelen en kan over meerdere servers verdeeld zijn. Het grote verschil met Viya zit in de manier waarop die onderdelen zijn georganiseerd en uitgevoerd.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van boven naar beneden de lagen aan. Wijs daarna de Metadata Server aan. Noem één herkenbare client uit de groep; behandel niet ieder SAS-servertype.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Waar wordt SAS-code uitgevoerd als je die vanuit een client indient?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In een SAS-rekenproces in de serverlaag, bijvoorbeeld een Workspace Server of batchproces.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Bij het huidige SAS Viya herkennen we de functies, maar veranderen de verpakking en de uitvoering.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Aangeleverde slides van de begeleider: architectuur, platformbeheer en Compute/CAS. Schema’s vereenvoudigd en opnieuw vormgegeven voor deze workshop.</a:t>
            </a:r>
            <a:endParaRPr/>
          </a:p>
          <a:p>
            <a:pPr indent="0" lvl="0" marL="0" rtl="0" algn="l">
              <a:spcBef>
                <a:spcPts val="0"/>
              </a:spcBef>
              <a:spcAft>
                <a:spcPts val="0"/>
              </a:spcAft>
              <a:buNone/>
            </a:pPr>
            <a:r>
              <a:rPr lang="en-US" sz="1200"/>
              <a:t>https://support.sas.com/content/dam/SAS/support/en/books/sas-administration-from-the-ground-up/71228_excerpt.pdf</a:t>
            </a:r>
            <a:endParaRPr/>
          </a:p>
          <a:p>
            <a:pPr indent="0" lvl="0" marL="0" rtl="0" algn="l">
              <a:spcBef>
                <a:spcPts val="0"/>
              </a:spcBef>
              <a:spcAft>
                <a:spcPts val="0"/>
              </a:spcAft>
              <a:buNone/>
            </a:pPr>
            <a:r>
              <a:rPr lang="en-US" sz="1200"/>
              <a:t>https://support.sas.com/en/software/metadata-server-support.html</a:t>
            </a:r>
            <a:endParaRPr/>
          </a:p>
          <a:p>
            <a:pPr indent="0" lvl="0" marL="0" rtl="0" algn="l">
              <a:spcBef>
                <a:spcPts val="0"/>
              </a:spcBef>
              <a:spcAft>
                <a:spcPts val="0"/>
              </a:spcAft>
              <a:buNone/>
            </a:pPr>
            <a:r>
              <a:rPr lang="en-US" sz="1200"/>
              <a:t>https://docs.aws.amazon.com/whitepapers/latest/best-practices-for-deploying-sas-server/sas-architecture.html</a:t>
            </a:r>
            <a:endParaRPr/>
          </a:p>
        </p:txBody>
      </p:sp>
      <p:sp>
        <p:nvSpPr>
          <p:cNvPr id="44" name="Google Shape;4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4. Minuut 3.5–5.5;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Bij SAS Viya bedoel ik hier het huidige platform dat op Kubernetes draait. Oudere Viya-generaties hadden een andere deploymentvorm. Ook nu ziet de gebruiker webapplicaties zoals SAS Studio en Visual Analytics. Achter die schermen werken verschillende services samen.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Een microservice is een kleinere dienst met een afgebakende taak, bijvoorbeeld het beheren van content of autorisatie. De software komt als containerimage: een pakket met de applicatie en wat die nodig heeft om te starten. Een draaiende uitvoering noemen we een container. Kubernetes laat containers draaien in Pods. Die begrippen bekijken we straks rustig afzonderlijk.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Daarnaast zijn er rekenonderdelen. Compute voert SAS-programma’s uit, bijvoorbeeld vanuit SAS Studio. CAS staat voor Cloud Analytic Services. Dat is een engine die gegevens in geheugen analytisch kan verwerken, eventueel verdeeld over meerdere machines. Visual Analytics gebruikt CAS voor analyses. Studio kan ook CAS gebruiken; Compute en CAS zijn dus verschillende onderdelen die kunnen samenwerken.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Een applicatie gebruikt vaak meerdere services en kan meerdere Pods nodig hebben. De tekening is daarom geen één-op-één overzicht van applicaties en Pods. Kubernetes organiseert de uitvoering. Gegevens en configuratie die bewaard moeten blijven, vragen ook opslag en goed beheer. Het doel blijft hetzelfde: de gebruiker kan code uitvoeren en rapporten bekijken.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Verbind Studio en Compute met de ETL-oefening en VA en CAS met het rapport. Wijs vervolgens de Kubernetes-onderlaag aan. Introduceer de woorden kort; de details volgen later.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Is SAS Studio zelf hetzelfde als de rekenengine?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Studio is de werkomgeving. Compute en eventueel CAS verzorgen de verwerking achter die omgeving.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Laten we de belangrijkste verschillen naast elkaar zetten, zodat je ze later kunt teruglezen.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Aangeleverde slides van de begeleider: architectuur, platformbeheer en Compute/CAS. Schema’s vereenvoudigd en opnieuw vormgegeven voor deze workshop.</a:t>
            </a:r>
            <a:endParaRPr/>
          </a:p>
          <a:p>
            <a:pPr indent="0" lvl="0" marL="0" rtl="0" algn="l">
              <a:spcBef>
                <a:spcPts val="0"/>
              </a:spcBef>
              <a:spcAft>
                <a:spcPts val="0"/>
              </a:spcAft>
              <a:buNone/>
            </a:pPr>
            <a:r>
              <a:rPr lang="en-US" sz="1200"/>
              <a:t>https://documentation.sas.com/api/docsets/calintro/v_001/content/calintro.pdf?locale=en</a:t>
            </a:r>
            <a:endParaRPr/>
          </a:p>
          <a:p>
            <a:pPr indent="0" lvl="0" marL="0" rtl="0" algn="l">
              <a:spcBef>
                <a:spcPts val="0"/>
              </a:spcBef>
              <a:spcAft>
                <a:spcPts val="0"/>
              </a:spcAft>
              <a:buNone/>
            </a:pPr>
            <a:r>
              <a:rPr lang="en-US" sz="1200"/>
              <a:t>https://documentation.sas.com/api/collections/itopscdc/v_021/docsets/itopscon/content/itopscon.pdf?locale=en</a:t>
            </a:r>
            <a:endParaRPr/>
          </a:p>
          <a:p>
            <a:pPr indent="0" lvl="0" marL="0" rtl="0" algn="l">
              <a:spcBef>
                <a:spcPts val="0"/>
              </a:spcBef>
              <a:spcAft>
                <a:spcPts val="0"/>
              </a:spcAft>
              <a:buNone/>
            </a:pPr>
            <a:r>
              <a:rPr lang="en-US" sz="1200"/>
              <a:t>https://documentation.sas.com/api/collections/pgmsascdc/v_067/docsets/pgmgs/content/pgmgs.pdf?locale=en</a:t>
            </a:r>
            <a:endParaRPr/>
          </a:p>
        </p:txBody>
      </p:sp>
      <p:sp>
        <p:nvSpPr>
          <p:cNvPr id="78" name="Google Shape;7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8. Minuut 9.5–11.5;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Ik voer eerst kubectl min n sasviya4 get deployments uit. Hier zien we onder andere sas-studio en sas-visual-analytics. Dit zijn herkenbare onderdelen die als aparte Deployments worden beheerd. Via hun Pods draaien de containers. Ze werken ook samen met andere SAS-diensten.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Bij deze Deployment betekent READY 1/1: één Ready Pod van één gewenste Pod. UP-TO-DATE is het aantal Pods met de huidige Podtemplate. AVAILABLE geeft het aantal beschikbare Pods aan. AGE is de leeftijd van dit Deployment-object, niet de tijd sinds de laatste update of de uptime van een Pod.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Daarna gebruik ik get pods min o wide. Dit zijn de daadwerkelijke draaiende eenheden. Let op: bij get pods betekent READY 1/1 één Ready container van één container. We herkennen dus dezelfde kolomnaam, maar kijken op een ander niveau.</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Dit is de backend achter de schermen uit de vorige workshop. We kijken hier alleen. Nu gaan we begrijpen wat een Pod en Deployment zijn, zodat jullie zelf een kleinere applicatie kunnen deployen.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Toon de echte uitvoer in sasviya4. De twee regels op de slide zijn de door jou aangeleverde voorbeelduitvoer; aantallen en AGE kunnen live anders zijn. Bij storing gebruik de bewaarde screenshot.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Wat betekent READY 1/1 bij get deployments?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Eén Ready Pod van één gewenste Pod. Bij get pods gaat READY over containers.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We hebben de SAS-context afgerond. Nu gaan we de Kubernetes-bouwstenen één voor één bekijken.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kubectl -n sasviya4 get deployments</a:t>
            </a:r>
            <a:endParaRPr/>
          </a:p>
          <a:p>
            <a:pPr indent="0" lvl="0" marL="0" rtl="0" algn="l">
              <a:spcBef>
                <a:spcPts val="0"/>
              </a:spcBef>
              <a:spcAft>
                <a:spcPts val="0"/>
              </a:spcAft>
              <a:buNone/>
            </a:pPr>
            <a:r>
              <a:rPr lang="en-US" sz="1200"/>
              <a:t>kubectl -n sasviya4 get pods -o wide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https://kubernetes.io/docs/concepts/workloads/pods/</a:t>
            </a:r>
            <a:endParaRPr/>
          </a:p>
        </p:txBody>
      </p:sp>
      <p:sp>
        <p:nvSpPr>
          <p:cNvPr id="111" name="Google Shape;11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5. Minuut 5.5–7; 1.5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 deze vergelijking kun je straks de kern teruglezen. Bij SAS 9 installeer je componenten op een serverbesturingssysteem. Bij het huidige Viya worden veel onderdelen als containerimages geleverd en door Kubernetes uitgevoerd.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Ook de verdeling van functies verandert. In SAS 9 hebben we samenhangende lagen met een centrale Metadata Server. Viya verdeelt veel platformfuncties over services. De SAS 9 Metadata Server is daar niet meer nodig. Er is natuurlijk nog steeds metadata: denk aan informatie over rapporten, bronnen en rechten. Andere services beheren die informatie.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Voor het uitvoeren van SAS-code kom je in Viya Compute tegen. Daarnaast is CAS belangrijk voor analytische verwerking in geheugen. Een vergelijking van namen betekent niet dat iedere oude component één-op-één wordt vervangen.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Voor de beheerder verschuift de dagelijkse aandacht naar images, Pods en Kubernetes-configuratie. Netwerk, opslag, rechten en monitoring blijven nodig. SAS 9 kon ook al verdeeld draaien en schalen, bijvoorbeeld met Grid. Het verschil is dus vooral hoe het platform is opgebouwd en hoe we het uitvoeren en beheren.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Bespreek de eerste, derde en laatste rij hardop. Laat de overige rijen als naslag staan. Zeg: “Deze vergelijking staat straks ook in de gedeelde slides.”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Betekent geen SAS 9 Metadata Server dat Viya geen metadata heeft?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Viya beheert metadata via andere services en opslag.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Die andere opbouw maakt bepaalde beheertaken flexibeler. Nu kunnen we uitleggen waarom.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Aangeleverde slides van de begeleider: architectuur, platformbeheer en Compute/CAS. Schema’s vereenvoudigd en opnieuw vormgegeven voor deze workshop.</a:t>
            </a:r>
            <a:endParaRPr/>
          </a:p>
          <a:p>
            <a:pPr indent="0" lvl="0" marL="0" rtl="0" algn="l">
              <a:spcBef>
                <a:spcPts val="0"/>
              </a:spcBef>
              <a:spcAft>
                <a:spcPts val="0"/>
              </a:spcAft>
              <a:buNone/>
            </a:pPr>
            <a:r>
              <a:rPr lang="en-US" sz="1200"/>
              <a:t>https://documentation.sas.com/api/docsets/calintro/v_001/content/calintro.pdf?locale=en</a:t>
            </a:r>
            <a:endParaRPr/>
          </a:p>
          <a:p>
            <a:pPr indent="0" lvl="0" marL="0" rtl="0" algn="l">
              <a:spcBef>
                <a:spcPts val="0"/>
              </a:spcBef>
              <a:spcAft>
                <a:spcPts val="0"/>
              </a:spcAft>
              <a:buNone/>
            </a:pPr>
            <a:r>
              <a:rPr lang="en-US" sz="1200"/>
              <a:t>https://documentation.sas.com/api/collections/itopscdc/v_021/docsets/itopscon/content/itopscon.pdf?locale=en</a:t>
            </a:r>
            <a:endParaRPr/>
          </a:p>
          <a:p>
            <a:pPr indent="0" lvl="0" marL="0" rtl="0" algn="l">
              <a:spcBef>
                <a:spcPts val="0"/>
              </a:spcBef>
              <a:spcAft>
                <a:spcPts val="0"/>
              </a:spcAft>
              <a:buNone/>
            </a:pPr>
            <a:r>
              <a:rPr lang="en-US" sz="1200"/>
              <a:t>https://docs.aws.amazon.com/whitepapers/latest/best-practices-for-deploying-sas-server/sas-architecture.html</a:t>
            </a:r>
            <a:endParaRPr/>
          </a:p>
          <a:p>
            <a:pPr indent="0" lvl="0" marL="0" rtl="0" algn="l">
              <a:spcBef>
                <a:spcPts val="0"/>
              </a:spcBef>
              <a:spcAft>
                <a:spcPts val="0"/>
              </a:spcAft>
              <a:buNone/>
            </a:pPr>
            <a:r>
              <a:rPr lang="en-US" sz="1200"/>
              <a:t>https://support.sas.com/en/software/metadata-server-support.html</a:t>
            </a:r>
            <a:endParaRPr/>
          </a:p>
        </p:txBody>
      </p:sp>
      <p:sp>
        <p:nvSpPr>
          <p:cNvPr id="126" name="Google Shape;12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6. Minuut 7–8.5; 1.5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Nu worden de voordelen concreet. Doordat functies over afzonderlijke services zijn verdeeld, kunnen we gerichter kijken welk onderdeel aandacht nodig heeft. Bijvoorbeeld: welke service geeft een fout, of welke workload gebruikt veel capaciteit? Onderdelen blijven wel van elkaar afhankelijk.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Voor geschikte workloads kunnen we meer capaciteit beschikbaar maken. Denk aan extra exemplaren van een service wanneer de belasting toeneemt. Dat vraagt wel beschikbare rekenkracht en een passende configuratie. Niet iedere applicatie schaalt op dezelfde manier.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Kubernetes bewaakt bovendien de gewenste toestand. Als we één beheerde Pod willen en die valt weg, kan Kubernetes een vervangende Pod laten starten. Dat maakt herstel beter te organiseren. Het is geen vervanging voor back-ups of herstel van verloren gegevens.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SAS levert daarnaast regelmatig nieuwe Viya-releases. Die bevatten nieuwe functies en verbeteringen. Beheerders plannen en testen de uitrol; een nieuwe release verschijnt niet vanzelf in onze omgeving. De architectuur helpt bij het uitvoeren en beheren van de software, terwijl SAS de functionaliteit levert. Je kunt de schema’s en vergelijking straks rustig teruglezen op de gedeelde locatie.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Lees per rij eerst de oorzaak links en leg daarna het gevolg rechts uit. Maak geen belofte over automatisch lagere kosten of een vaste upgrade-duur.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Waarom kan Kubernetes een verdwenen beheerde Pod vervangen?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Omdat in de configuratie staat welke toestand gewenst is en controllers proberen die toestand te herstellen.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We hebben nu de SAS-context. Vanaf hier zoomen we in op Kubernetes en gaan we zelf een eenvoudige applicatie uitvoeren.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Aangeleverde slides van de begeleider: architectuur, platformbeheer en Compute/CAS. Schema’s vereenvoudigd en opnieuw vormgegeven voor deze workshop.</a:t>
            </a:r>
            <a:endParaRPr/>
          </a:p>
          <a:p>
            <a:pPr indent="0" lvl="0" marL="0" rtl="0" algn="l">
              <a:spcBef>
                <a:spcPts val="0"/>
              </a:spcBef>
              <a:spcAft>
                <a:spcPts val="0"/>
              </a:spcAft>
              <a:buNone/>
            </a:pPr>
            <a:r>
              <a:rPr lang="en-US" sz="1200"/>
              <a:t>https://documentation.sas.com/api/collections/itopscdc/v_021/docsets/itopscon/content/itopscon.pdf?locale=en</a:t>
            </a:r>
            <a:endParaRPr/>
          </a:p>
          <a:p>
            <a:pPr indent="0" lvl="0" marL="0" rtl="0" algn="l">
              <a:spcBef>
                <a:spcPts val="0"/>
              </a:spcBef>
              <a:spcAft>
                <a:spcPts val="0"/>
              </a:spcAft>
              <a:buNone/>
            </a:pPr>
            <a:r>
              <a:rPr lang="en-US" sz="1200"/>
              <a:t>https://kubernetes.io/docs/concepts/workloads/controllers/deployment/</a:t>
            </a:r>
            <a:endParaRPr/>
          </a:p>
          <a:p>
            <a:pPr indent="0" lvl="0" marL="0" rtl="0" algn="l">
              <a:spcBef>
                <a:spcPts val="0"/>
              </a:spcBef>
              <a:spcAft>
                <a:spcPts val="0"/>
              </a:spcAft>
              <a:buNone/>
            </a:pPr>
            <a:r>
              <a:rPr lang="en-US" sz="1200"/>
              <a:t>https://documentation.sas.com/api/docsets/calintro/v_001/content/calintro.pdf?locale=en</a:t>
            </a:r>
            <a:endParaRPr/>
          </a:p>
        </p:txBody>
      </p:sp>
      <p:sp>
        <p:nvSpPr>
          <p:cNvPr id="137" name="Google Shape;1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7. Minuut 8.5–9.5; 1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Zoals we net hebben gezien, speelt Kubernetes een belangrijke rol in de moderne SAS Viya-omgeving.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Maar wat is Kubernetes eigenlijk?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Je kunt Kubernetes zien als een systeem dat ervoor zorgt dat applicaties op de backend kunnen draaien en worden beheerd.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Neem bijvoorbeeld SAS Viya. Daar hebben we verschillende onderdelen, zoals SAS Studio en SAS Compute. Die draaien in containers die door Kubernetes worden beheerd.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Kubernetes zorgt ervoor dat de benodigde Pods worden gestart en dat uitgevallen Pods opnieuw worden aangemaakt. Ook kunnen we bepaalde applicaties opschalen wanneer dat nodig is.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Tijdens deze workshop hoeven we niet alle technische details van SAS Viya te begrijpen.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gaan vooral kijken hoe Kubernetes werkt en hoe we zelf een applicatie kunnen deployen en beheren.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de drie werkwoorden aan. Dit is de overgang van de SAS-architectuur naar de Kubernetes-bouwstenen; herhaal de voordelen alleen kort.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Wat kan Kubernetes doen als een beheerde Pod wegvalt?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Een nieuwe Pod laten maken, zolang de benodigde capaciteit en configuratie beschikbaar zijn.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Laten we deze achterkant nu kort live bekijken.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https://github.com/sassoftware/viya4-deployment</a:t>
            </a:r>
            <a:endParaRPr/>
          </a:p>
          <a:p>
            <a:pPr indent="0" lvl="0" marL="0" rtl="0" algn="l">
              <a:spcBef>
                <a:spcPts val="0"/>
              </a:spcBef>
              <a:spcAft>
                <a:spcPts val="0"/>
              </a:spcAft>
              <a:buNone/>
            </a:pPr>
            <a:r>
              <a:rPr lang="en-US" sz="1200"/>
              <a:t>Aangeleverde begeleidersslide over Compute en CAS.</a:t>
            </a:r>
            <a:endParaRPr/>
          </a:p>
        </p:txBody>
      </p:sp>
      <p:sp>
        <p:nvSpPr>
          <p:cNvPr id="164" name="Google Shape;16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9. Minuut 11.5–14.5; 3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Een cluster is de Kubernetes-omgeving als geheel. De control plane houdt de gewenste en werkelijke toestand bij. De nodes zijn de fysieke of virtuele machines waarop onze applicaties draaien. Kubernetes kiest een passende node wanneer een nieuwe Pod ingepland wordt.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Een Pod is de kleinste eenheid die we in Kubernetes inzetten. Een Pod bevat één of meer containers die onder andere hetzelfde netwerk delen. In onze workshop bevat elke Pod precies één applicatiecontainer. Een container is een draaiend proces met zijn eigen afgeschermde omgeving, gestart uit een image. Hij is geen volledige virtuele machine met een eigen kernel.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image bespreken we later bij Docker uitgebreider. Onthoud nu: de image is het pakket; de container is wat daarvan draait. De namespace is een logische indeling van resources binnen een cluster. Onze namespace heet backend-workshop. Dat betekent niet dat al onze Pods op één specifieke node staan.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Kubernetes helpt deze processen te plaatsen en te beheren. We beschrijven wat we willen; controllers werken vervolgens toe naar die gewenste toestand.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van buiten naar binnen. Noem namespace apart als logische indeling, niet als extra machine.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Kan één Pod meer dan één container hebben?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Ja. In onze oefeningen gebruiken we er één per Pod.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Hoe vertellen we Kubernetes welke Pod we willen laten draaien?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https://kubernetes.io/docs/concepts/overview/components/</a:t>
            </a:r>
            <a:endParaRPr/>
          </a:p>
          <a:p>
            <a:pPr indent="0" lvl="0" marL="0" rtl="0" algn="l">
              <a:spcBef>
                <a:spcPts val="0"/>
              </a:spcBef>
              <a:spcAft>
                <a:spcPts val="0"/>
              </a:spcAft>
              <a:buNone/>
            </a:pPr>
            <a:r>
              <a:rPr lang="en-US" sz="1200"/>
              <a:t>https://kubernetes.io/docs/concepts/workloads/pods/</a:t>
            </a:r>
            <a:endParaRPr/>
          </a:p>
        </p:txBody>
      </p:sp>
      <p:sp>
        <p:nvSpPr>
          <p:cNvPr id="189" name="Google Shape;18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10. Minuut 14.5–16.5;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maken niet los een Pod en hopen dat die blijft bestaan. In een Deployment zetten we welke image we willen uitvoeren, met welke instellingen en hoeveel replica’s nodig zijn. In onze templates staat replicas op één.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Deployment beheert ReplicaSets, en een ReplicaSet zorgt voor het gewenste aantal Pods. Als een Pod verdwijnt, kan een nieuwe Pod worden gemaakt. De nieuwe Pod is een nieuw object en kan een andere naam en een ander IP-adres hebben. Bij één replica kan zo’n vervanging tijdelijk tot onbereikbaarheid leiden.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Het YAML-bestand is onze beschrijving. Met kubectl apply sturen we die naar de Kubernetes-API. Daarna controleren we het resultaat; een succesvol apply-commando betekent alleen dat de configuratie is geaccepteerd, nog niet dat de image opgehaald is of de app gezond draait.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image, replicas en de beheerpijlen aan. Houd de ReplicaSet-uitleg bij één zin.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Bewijst “deployment created” dat de website al werkt?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Controleer rollout, Ready Pods en het HTTP-antwoord.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Een draaiende Pod heeft ook een stabiel toegangspunt nodig.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https://kubernetes.io/docs/concepts/workloads/controllers/deployment/</a:t>
            </a:r>
            <a:endParaRPr/>
          </a:p>
        </p:txBody>
      </p:sp>
      <p:sp>
        <p:nvSpPr>
          <p:cNvPr id="207" name="Google Shape;20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11. Minuut 16.5–18.5;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Een Pod kan worden vervangen en een ander IP-adres krijgen. Daarom willen we niet overal een Pod-IP invullen. Een Service geeft een stabiele interne naam en een toegangspunt voor een groep passende Pods.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Hoe weet de Service welke Pods daarbij horen? Via labels en selectors. In onze template staat op de Pod app gelijk aan nginx-demo, gevolgd door jouw naam. De selector van de Service moet precies dezelfde waarde hebben. Zo komt het verkeer bij jouw Pod terecht.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Service heeft een eigen poort en een doelpoort. Voor nginx zijn die allebei 80. Voor de simulator blijft de Servicepoort 80, maar de app luistert op 5000. Een poort in YAML noemen laat een programma niet vanzelf luisteren; dat moet de applicatie zelf doen.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Service start geen Pods. Dat is de beheerrelatie van de Deployment. Maak dus onderscheid tussen wat de app beheert en waar het netwerkverkeer naartoe gaat.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selector en label aan en volg daarna de netwerkpijl.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Wat kan er gebeuren als de selector niet bij de Podlabels past?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 Service vindt geen passende Pods en je website is via die Service niet bereikbaar.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De Service is intern. Hoe komen we er met onze browser bij?</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https://kubernetes.io/docs/concepts/services-networking/service/</a:t>
            </a:r>
            <a:endParaRPr/>
          </a:p>
        </p:txBody>
      </p:sp>
      <p:sp>
        <p:nvSpPr>
          <p:cNvPr id="232" name="Google Shape;23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12. Minuut 18.5–21; 2.5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 de browser gebruiken we een hostname. DNS zorgt dat die naam bij het toegangspunt van onze Ingress-controller uitkomt. De controller leest Ingress-regels en bepaalt op basis van bijvoorbeeld hostname en pad naar welke Service een HTTP-verzoek moet.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Ingress is dus de configuratie; de controller voert die uit. Alleen een Ingress-bestand maken is niet genoeg als er geen controller draait. Ook maakt een hostveld niet automatisch een DNS-record. Daarom heb ik de controller, de IngressClass en jullie DNS-namen vooraf voorbereid.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Jullie vervangen straks de naam in jullie eigen hostname. Gebruik de afgesproken naam binnen het voorbereide workshopdomein. De Ingress verwijst naar de Service met dezelfde persoonlijke naam, op poort 80. Het schema http staat alleen in de browser-URL, niet in het hostveld.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Volg de route op het schema: browser, controller, Service en Pod met container. De Deployment hangt daar als beheerder boven, maar staat niet als tussenstation in het HTTP-verkeer. Dat onderscheid helpt straks ook bij foutzoeken.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één toegewezen hostname zien. Vertel welk schema de echte omgeving gebruikt, HTTP of HTTPS.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Maakt het hostveld in de Ingress ook de DNS-naam aan?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DNS en de controller moeten al goed ingesteld zijn.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Voordat we gaan deployen, laat ik nog zien waar onze eigen webpagina vandaan komt.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https://kubernetes.io/docs/concepts/services-networking/ingress/</a:t>
            </a:r>
            <a:endParaRPr/>
          </a:p>
        </p:txBody>
      </p:sp>
      <p:sp>
        <p:nvSpPr>
          <p:cNvPr id="255" name="Google Shape;25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13. Minuut 21–23;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Een ConfigMap bewaart kleine stukjes tekst of configuratie buiten de image. In onze oefening staat daar het bestand index.html in. Dat is de inhoud van onze webpagina. Een ConfigMap is geen plek voor wachtwoorden.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In de Deployment verwijst volumes naar de naam van onze ConfigMap. Met volumeMounts komt die inhoud in de container beschikbaar op /usr/share/nginx/html. Dat is de map waar nginx zijn standaardwebpagina leest. De sleutel index.html wordt daar een bestand.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gebruiken dus een bestaande nginx-image en leveren zelf de pagina aan. We hoeven de image hiervoor niet opnieuw te bouwen. De ConfigMap moet in dezelfde namespace staan als de Pod die hem gebruikt. Straks krijgt iedereen een eigen ConfigMap, net als een eigen Deployment, Service en Ingress.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Hiermee zijn de bouwstenen voor stap 1 compleet.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index.html, de ConfigMap-verwijzing en het mountPath aan in de vier echte YAML-bestanden.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Moeten we een nieuwe nginx-image bouwen om deze HTML aan te leveren?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We bieden index.html via een ConfigMap-volume aan.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We beginnen nu met stap 1: jouw eigen webpagina deployen.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https://kubernetes.io/docs/concepts/configuration/configmap/</a:t>
            </a:r>
            <a:endParaRPr/>
          </a:p>
        </p:txBody>
      </p:sp>
      <p:sp>
        <p:nvSpPr>
          <p:cNvPr id="284" name="Google Shape;28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14. Minuut 23–23.5; 0.5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hebben de SAS-context en de Kubernetes-bouwstenen gehad. Nu beginnen we met stap 1. Het resultaat is een eigen nginx-pagina met HTML uit een ConfigMap op jullie eigen hostname. Volg stap-1.md en houd de eerste controle aan: je eigen Pod moet Ready zijn voordat je verdergaat.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deelnemers stap-1.md openen. Begin na de uitleg met hun eigen map en bestanden.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Wat moet straks in de browser verschijnen?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 pagina Backend Workshop met de tekst Mijn eerste Kubernetes Deployment! Een persoonlijke tekst mag als extra.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Ik wijs eerst de vier bestanden en de bijbehorende namen aan.</a:t>
            </a:r>
            <a:endParaRPr/>
          </a:p>
        </p:txBody>
      </p:sp>
      <p:sp>
        <p:nvSpPr>
          <p:cNvPr id="310" name="Google Shape;31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15. Minuut 23.5–30.5; 7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Nu maken jullie eerst ruimte voor je eigen werk. In mijn voorbeeld heet de deelnemer wenjie. Gebruik overal jouw afgesproken naam: kleine letters, cijfers en eventueel een koppelteken. Typ geen punthaken in de terminal.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Ga vanuit je thuismap naar workshop/nginx. Maak daar een map met je naam. Kopieer met cp ster punt yaml alleen de vier templates naar je eigen map en ga die map in. We passen de oorspronkelijke templates niet aan.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configmap.yaml, deployment.yaml, service.yaml en ingress.yaml. Vervang overal de tekst tussen punthaken, inclusief de punthaken, door dezelfde naam. Controleer ook de ConfigMap- en Serviceverwijzing. De image blijft nginx:latest.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Je kunt vim gebruiken: druk op i, pas de tekst aan, druk op Escape en sla op met dubbele punt w q. Liever Notepad of VS Code? Download via het SFTP-paneel van MobaXterm de vier bestanden uit jouw eigen map op de workshopserver. Bewerk ze lokaal en upload ze terug naar precies die map.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Sla YAML op met spaties, niet met tabs. Controleer bij Notepad dat het bestand echt op punt yaml eindigt. Pas na opslaan of terug uploaden gaan we deployen. Neem hiervoor rustig de tijd; ik loop mee om de namen te controleren.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Geef zeven minuten voor kopiëren, bewerken en terug uploaden. Toon vim en wijs de SFTP-map aan. Laat iedereen bevestigen dat de vier bestanden zijn opgeslagen.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Waarom een eigen map én eigen objectnamen?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 map scheidt de bestanden op de server; de objectnamen scheiden de resources in de gedeelde namespace.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Zijn je bestanden opgeslagen? Dan sturen we ze naar Kubernetes.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cd ~</a:t>
            </a:r>
            <a:endParaRPr/>
          </a:p>
          <a:p>
            <a:pPr indent="0" lvl="0" marL="0" rtl="0" algn="l">
              <a:spcBef>
                <a:spcPts val="0"/>
              </a:spcBef>
              <a:spcAft>
                <a:spcPts val="0"/>
              </a:spcAft>
              <a:buNone/>
            </a:pPr>
            <a:r>
              <a:rPr lang="en-US" sz="1200"/>
              <a:t>cd workshop/nginx</a:t>
            </a:r>
            <a:endParaRPr/>
          </a:p>
          <a:p>
            <a:pPr indent="0" lvl="0" marL="0" rtl="0" algn="l">
              <a:spcBef>
                <a:spcPts val="0"/>
              </a:spcBef>
              <a:spcAft>
                <a:spcPts val="0"/>
              </a:spcAft>
              <a:buNone/>
            </a:pPr>
            <a:r>
              <a:rPr lang="en-US" sz="1200"/>
              <a:t>mkdir wenjie</a:t>
            </a:r>
            <a:endParaRPr/>
          </a:p>
          <a:p>
            <a:pPr indent="0" lvl="0" marL="0" rtl="0" algn="l">
              <a:spcBef>
                <a:spcPts val="0"/>
              </a:spcBef>
              <a:spcAft>
                <a:spcPts val="0"/>
              </a:spcAft>
              <a:buNone/>
            </a:pPr>
            <a:r>
              <a:rPr lang="en-US" sz="1200"/>
              <a:t>cp *.yaml wenjie/</a:t>
            </a:r>
            <a:endParaRPr/>
          </a:p>
          <a:p>
            <a:pPr indent="0" lvl="0" marL="0" rtl="0" algn="l">
              <a:spcBef>
                <a:spcPts val="0"/>
              </a:spcBef>
              <a:spcAft>
                <a:spcPts val="0"/>
              </a:spcAft>
              <a:buNone/>
            </a:pPr>
            <a:r>
              <a:rPr lang="en-US" sz="1200"/>
              <a:t>cd wenjie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https://kubernetes.io/docs/concepts/services-networking/service/</a:t>
            </a:r>
            <a:endParaRPr/>
          </a:p>
        </p:txBody>
      </p:sp>
      <p:sp>
        <p:nvSpPr>
          <p:cNvPr id="329" name="Google Shape;32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16. Minuut 30.5–33.5; 3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staan nog in onze eigen map, bijvoorbeeld workshop/nginx/wenjie. Daar staan alleen de vier aangepaste YAML-bestanden. Met kubectl min n backend-workshop apply min f punt sturen we die bestanden naar Kubernetes.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Controleer daarna met get pods min o wide. Je ziet ook de Pods van andere deelnemers, want we delen de namespace. Zoek de Pod waarvan de naam bij jouw Deployment hoort.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Wacht tot jouw Pod Running is en READY één op één toont. De enige container is dan Ready. Bij een fout stoppen we even en bekijken we samen de melding. Alleen created na apply bewijst nog niet dat de applicatie draait.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deelnemers apply uitvoeren en hun Pod aanwijzen. Vraag om bevestiging van Running en 1/1 Ready.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Welke Pod hoort bij jouw applicatie?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 naam begint met nginx-demo-deployment-, jouw naam en een gegenereerd achtervoegsel.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De Pod draait. Nu controleren we de Service.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kubectl -n backend-workshop apply -f .</a:t>
            </a:r>
            <a:endParaRPr/>
          </a:p>
          <a:p>
            <a:pPr indent="0" lvl="0" marL="0" rtl="0" algn="l">
              <a:spcBef>
                <a:spcPts val="0"/>
              </a:spcBef>
              <a:spcAft>
                <a:spcPts val="0"/>
              </a:spcAft>
              <a:buNone/>
            </a:pPr>
            <a:r>
              <a:rPr lang="en-US" sz="1200"/>
              <a:t>kubectl -n backend-workshop get pods -o wide</a:t>
            </a:r>
            <a:endParaRPr/>
          </a:p>
        </p:txBody>
      </p:sp>
      <p:sp>
        <p:nvSpPr>
          <p:cNvPr id="345" name="Google Shape;34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17. Minuut 33.5–34.5; 1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Service is met dezelfde apply aangemaakt. Met get svc vragen we de Services in backend-workshop op. Zoek nginx-demo-service, gevolgd door jouw eigen naam.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Controleer dat het type ClusterIP is en dat poort 80 wordt aangeboden. Of de volledige route werkt zien we zo in de browser.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iedereen zijn eigen Service en poort 80 aanwijzen.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Start de Service onze Pod?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De Deployment beheert de Pod; de Service stuurt verkeer naar passende Pods.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We openen nu onze eigen website.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kubectl -n backend-workshop get svc</a:t>
            </a:r>
            <a:endParaRPr/>
          </a:p>
        </p:txBody>
      </p:sp>
      <p:sp>
        <p:nvSpPr>
          <p:cNvPr id="356" name="Google Shape;356;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18. Minuut 34.5–37.5; 3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nu in je eigen browser de hostname die je in ingress.yaml hebt ingevuld. Gebruik de URL op de slide met jouw naam in plaats van wenjie.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Je hoort Backend Workshop en Mijn eerste Kubernetes Deployment te zien. Die HTML komt uit jouw ConfigMap. Een eigen tekst die je hebt toegevoegd zie je hier ook.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Wie ziet de pagina? Laat dat even weten. Hiermee hebben we de hele route visueel gecontroleerd: browser, Ingress-controller, Service en Pod. Bij een fout controleren we samen eerst de naam in de adresbalk en de verwijzingen in de vier bestanden.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deelnemers de URL in hun browser openen en bevestigen dat de pagina verschijnt. Geen backendtestcommando voor dit checkpoint.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Waar komt de paginatekst vandaan?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Uit index.html in de ConfigMap, als bestand gekoppeld aan de nginx-container.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De pagina is zichtbaar: stap 1 is afgerond.</a:t>
            </a:r>
            <a:endParaRPr/>
          </a:p>
        </p:txBody>
      </p:sp>
      <p:sp>
        <p:nvSpPr>
          <p:cNvPr id="367" name="Google Shape;36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19. Minuut 37.5–38.5; 1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zijn klaar met stap 1. Jullie hebben je eigen YAML-bestanden aangepast, een bestaande nginx-image gedeployed en de website in de browser geopend. De Pod draait, de Service bestaat en de externe route werkt.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Nu beginnen we met stap 2. Jullie bouwen eerst zelf een image. Daarna deployen jullie de simulator met een image die ik vooraf beschikbaar heb gemaakt. We herhalen dus de bekende Kubernetes-stappen.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Check de tijd: ongeveer minuut 38,5. Noteer wie nog hulp nodig heeft; begin geen optioneel experiment.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Welke Kubernetes-bouwstenen gebruiken we straks opnieuw?</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Deployment, Pod, Service en Ingress.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We beginnen aan stap 2 met het verschil tussen image en container.</a:t>
            </a:r>
            <a:endParaRPr/>
          </a:p>
        </p:txBody>
      </p:sp>
      <p:sp>
        <p:nvSpPr>
          <p:cNvPr id="387" name="Google Shape;387;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5" name="Google Shape;40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20. Minuut 38.5–40.5;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Tot nu toe gebruikten we een image die iemand anders heeft gemaakt. Nu doen wij dat zelf. Een image is een pakket van lagen met bijvoorbeeld Python, onze code en de instellingen om die code te starten. Die image kunnen we opnieuw gebruiken.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Als we de image starten, ontstaat een container. Het is dezelfde verhouding als pakket en uitvoering: één image kan meerdere afzonderlijke containers opleveren. Wij testen eerst één container op de workshopserver. Daarna gebruikt Kubernetes diezelfde image voor een container in een Pod.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Docker is ons gereedschap om te bouwen en lokaal te testen. Kubernetes bouwt onze Dockerfile niet automatisch. Op clusternodes draait een container runtime; daarvoor hoeft Docker Engine niet geïnstalleerd te zijn. De image is dus de schakel tussen ons bouwwerk en de uitvoering in het cluster.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Wijs pakket versus uitvoering aan. Gebruik de nginx-image als bekend voorbeeld.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Wordt je Dockerfile automatisch uitgevoerd als je een Deployment toepast?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Bouw de image eerst en zorg dat de nodes hem kunnen ophalen.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Het bouwrecept staat in de Dockerfile.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https://docs.docker.com/get-started/docker-concepts/the-basics/what-is-an-image/</a:t>
            </a:r>
            <a:endParaRPr/>
          </a:p>
          <a:p>
            <a:pPr indent="0" lvl="0" marL="0" rtl="0" algn="l">
              <a:spcBef>
                <a:spcPts val="0"/>
              </a:spcBef>
              <a:spcAft>
                <a:spcPts val="0"/>
              </a:spcAft>
              <a:buNone/>
            </a:pPr>
            <a:r>
              <a:rPr lang="en-US" sz="1200"/>
              <a:t>https://kubernetes.io/docs/concepts/overview/components/</a:t>
            </a:r>
            <a:endParaRPr/>
          </a:p>
        </p:txBody>
      </p:sp>
      <p:sp>
        <p:nvSpPr>
          <p:cNvPr id="406" name="Google Shape;406;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21. Minuut 40.5–42.5; 2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Deze Dockerfile begint met een Python-basisimage. WORKDIR kiest de werkmap. Eerst kopiëren we requirements.txt en installeren we Flask met pip. Daarna kopiëren we app.py. USER laat de app als een niet-rootgebruiker draaien. CMD start Python. EXPOSE documenteert poort 5000, maar publiceert die poort niet vanzelf.</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Dit is de Flask-simulator die we al hadden, zonder het RabbitMQ-gedeelte. Een achtergrondthread maakt iedere seconde een meting. Flask geeft de laatste meting op /sensor terug als JSON. De gegevens staan in geheugen en verdwijnen als het proces stopt.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code staat klaar. Jullie hoeven geen Python te schrijven. We oefenen het verpakken en uitvoeren. In de logs zien we de Flask-startmelding en HTTP-verzoeken. De metingen zelf bekijken we in de browser op /sensor. Dit is een eenvoudige workshopapp, geen volledige productie-inrichting.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Open Dockerfile en wijs alleen de genoemde regels aan. Toon één JSON-voorbeeld uit de handleiding of demo.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Publiceert EXPOSE 5000 de applicatie op de workshopserver?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Docker heeft daarvoor een poortmapping nodig; in Kubernetes richten we de netwerkroute in.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Na het bouwen moet de image ook bereikbaar zijn voor de nodes.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FROM python:3.12-slim</a:t>
            </a:r>
            <a:endParaRPr/>
          </a:p>
          <a:p>
            <a:pPr indent="0" lvl="0" marL="0" rtl="0" algn="l">
              <a:spcBef>
                <a:spcPts val="0"/>
              </a:spcBef>
              <a:spcAft>
                <a:spcPts val="0"/>
              </a:spcAft>
              <a:buNone/>
            </a:pPr>
            <a:r>
              <a:rPr lang="en-US" sz="1200"/>
              <a:t>WORKDIR /app</a:t>
            </a:r>
            <a:endParaRPr/>
          </a:p>
          <a:p>
            <a:pPr indent="0" lvl="0" marL="0" rtl="0" algn="l">
              <a:spcBef>
                <a:spcPts val="0"/>
              </a:spcBef>
              <a:spcAft>
                <a:spcPts val="0"/>
              </a:spcAft>
              <a:buNone/>
            </a:pPr>
            <a:r>
              <a:rPr lang="en-US" sz="1200"/>
              <a:t>COPY requirements.txt .</a:t>
            </a:r>
            <a:endParaRPr/>
          </a:p>
          <a:p>
            <a:pPr indent="0" lvl="0" marL="0" rtl="0" algn="l">
              <a:spcBef>
                <a:spcPts val="0"/>
              </a:spcBef>
              <a:spcAft>
                <a:spcPts val="0"/>
              </a:spcAft>
              <a:buNone/>
            </a:pPr>
            <a:r>
              <a:rPr lang="en-US" sz="1200"/>
              <a:t>RUN pip install --no-cache-dir -r requirements.txt</a:t>
            </a:r>
            <a:endParaRPr/>
          </a:p>
          <a:p>
            <a:pPr indent="0" lvl="0" marL="0" rtl="0" algn="l">
              <a:spcBef>
                <a:spcPts val="0"/>
              </a:spcBef>
              <a:spcAft>
                <a:spcPts val="0"/>
              </a:spcAft>
              <a:buNone/>
            </a:pPr>
            <a:r>
              <a:rPr lang="en-US" sz="1200"/>
              <a:t>COPY app.py .</a:t>
            </a:r>
            <a:endParaRPr/>
          </a:p>
          <a:p>
            <a:pPr indent="0" lvl="0" marL="0" rtl="0" algn="l">
              <a:spcBef>
                <a:spcPts val="0"/>
              </a:spcBef>
              <a:spcAft>
                <a:spcPts val="0"/>
              </a:spcAft>
              <a:buNone/>
            </a:pPr>
            <a:r>
              <a:rPr lang="en-US" sz="1200"/>
              <a:t>ENV PYTHONUNBUFFERED=1</a:t>
            </a:r>
            <a:endParaRPr/>
          </a:p>
          <a:p>
            <a:pPr indent="0" lvl="0" marL="0" rtl="0" algn="l">
              <a:spcBef>
                <a:spcPts val="0"/>
              </a:spcBef>
              <a:spcAft>
                <a:spcPts val="0"/>
              </a:spcAft>
              <a:buNone/>
            </a:pPr>
            <a:r>
              <a:rPr lang="en-US" sz="1200"/>
              <a:t>USER 10001:10001</a:t>
            </a:r>
            <a:endParaRPr/>
          </a:p>
          <a:p>
            <a:pPr indent="0" lvl="0" marL="0" rtl="0" algn="l">
              <a:spcBef>
                <a:spcPts val="0"/>
              </a:spcBef>
              <a:spcAft>
                <a:spcPts val="0"/>
              </a:spcAft>
              <a:buNone/>
            </a:pPr>
            <a:r>
              <a:rPr lang="en-US" sz="1200"/>
              <a:t>EXPOSE 5000</a:t>
            </a:r>
            <a:endParaRPr/>
          </a:p>
          <a:p>
            <a:pPr indent="0" lvl="0" marL="0" rtl="0" algn="l">
              <a:spcBef>
                <a:spcPts val="0"/>
              </a:spcBef>
              <a:spcAft>
                <a:spcPts val="0"/>
              </a:spcAft>
              <a:buNone/>
            </a:pPr>
            <a:r>
              <a:rPr lang="en-US" sz="1200"/>
              <a:t>CMD ["python", "app.py"]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https://docs.docker.com/get-started/docker-concepts/building-images/build-tag-and-publish-an-image/</a:t>
            </a:r>
            <a:endParaRPr/>
          </a:p>
        </p:txBody>
      </p:sp>
      <p:sp>
        <p:nvSpPr>
          <p:cNvPr id="428" name="Google Shape;428;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23. Minuut 43.5–49; 5.5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Ga naar de simulator-map. Maak een eigen kopie van app.py, requirements.txt, de Dockerfile en de drie YAML-bestanden. De centrale voorbeelden blijven zo intact. We gebruiken de YAML straks voor jullie eigen simulator-deployment.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Lees kort de Dockerfile en voer docker build uit. In het voorbeeld gebruiken we sensor-simulator:wenjie. Vervang wenjie door jouw naam, zodat de lokale images op de gedeelde server herkenbaar blijven.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punt achter het commando is de buildcontext: Docker gebruikt de bestanden in de huidige map. De eerste build kan langer duren als de Python-basisimage nog moet worden opgehaald.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Controleer met docker images sensor-simulator of jouw tag in de lijst staat. De build is dan klaar. Straks deployen jullie een vooraf beschikbare image van dezelfde code. Jullie eigen lokale image hoeven jullie niet te pushen.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Geef vijf en een halve minuut inclusief lezen en bouwen. Laat deelnemers hun eigen tag aanwijzen.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Wat betekent de punt achter docker build?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 huidige map is de buildcontext; daar staan app.py en de Dockerfile.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De image is gebouwd. We kunnen kort zien wat een container hiervan doet.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cd ~/workshop/simulator</a:t>
            </a:r>
            <a:endParaRPr/>
          </a:p>
          <a:p>
            <a:pPr indent="0" lvl="0" marL="0" rtl="0" algn="l">
              <a:spcBef>
                <a:spcPts val="0"/>
              </a:spcBef>
              <a:spcAft>
                <a:spcPts val="0"/>
              </a:spcAft>
              <a:buNone/>
            </a:pPr>
            <a:r>
              <a:rPr lang="en-US" sz="1200"/>
              <a:t>mkdir wenjie</a:t>
            </a:r>
            <a:endParaRPr/>
          </a:p>
          <a:p>
            <a:pPr indent="0" lvl="0" marL="0" rtl="0" algn="l">
              <a:spcBef>
                <a:spcPts val="0"/>
              </a:spcBef>
              <a:spcAft>
                <a:spcPts val="0"/>
              </a:spcAft>
              <a:buNone/>
            </a:pPr>
            <a:r>
              <a:rPr lang="en-US" sz="1200"/>
              <a:t>cp app.py requirements.txt Dockerfile *.yaml wenjie/</a:t>
            </a:r>
            <a:endParaRPr/>
          </a:p>
          <a:p>
            <a:pPr indent="0" lvl="0" marL="0" rtl="0" algn="l">
              <a:spcBef>
                <a:spcPts val="0"/>
              </a:spcBef>
              <a:spcAft>
                <a:spcPts val="0"/>
              </a:spcAft>
              <a:buNone/>
            </a:pPr>
            <a:r>
              <a:rPr lang="en-US" sz="1200"/>
              <a:t>cd wenjie</a:t>
            </a:r>
            <a:endParaRPr/>
          </a:p>
          <a:p>
            <a:pPr indent="0" lvl="0" marL="0" rtl="0" algn="l">
              <a:spcBef>
                <a:spcPts val="0"/>
              </a:spcBef>
              <a:spcAft>
                <a:spcPts val="0"/>
              </a:spcAft>
              <a:buNone/>
            </a:pPr>
            <a:r>
              <a:rPr lang="en-US" sz="1200"/>
              <a:t>docker build -t sensor-simulator:wenjie .</a:t>
            </a:r>
            <a:endParaRPr/>
          </a:p>
          <a:p>
            <a:pPr indent="0" lvl="0" marL="0" rtl="0" algn="l">
              <a:spcBef>
                <a:spcPts val="0"/>
              </a:spcBef>
              <a:spcAft>
                <a:spcPts val="0"/>
              </a:spcAft>
              <a:buNone/>
            </a:pPr>
            <a:r>
              <a:rPr lang="en-US" sz="1200"/>
              <a:t>docker images sensor-simulator</a:t>
            </a:r>
            <a:endParaRPr/>
          </a:p>
        </p:txBody>
      </p:sp>
      <p:sp>
        <p:nvSpPr>
          <p:cNvPr id="439" name="Google Shape;439;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24. Minuut 49–49.5; 0.5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Als je build klaar is, kun je de container kort starten. Je ziet de Flask-startmelding. Dat toont dat de webapp start; de JSON bekijken we straks via /sensor in de browser. Stop met Control C. Dankzij --rm verdwijnt de testcontainer. De image blijft staan. Dit is een optionele test.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snelle deelnemers de test doen; toon anders zelf één test. Stop met Ctrl+C.</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Verdwijnt ook de image?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--rm verwijdert de container; de image blijft staan.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De build is klaar. Nu gebruiken jullie de beschikbare image voor een eigen deployment.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docker run --rm sensor-simulator:wenjie</a:t>
            </a:r>
            <a:endParaRPr/>
          </a:p>
          <a:p>
            <a:pPr indent="0" lvl="0" marL="0" rtl="0" algn="l">
              <a:spcBef>
                <a:spcPts val="0"/>
              </a:spcBef>
              <a:spcAft>
                <a:spcPts val="0"/>
              </a:spcAft>
              <a:buNone/>
            </a:pPr>
            <a:r>
              <a:rPr lang="en-US" sz="1200"/>
              <a:t># Stop na de Flask-startmelding met Ctrl+C</a:t>
            </a:r>
            <a:endParaRPr/>
          </a:p>
        </p:txBody>
      </p:sp>
      <p:sp>
        <p:nvSpPr>
          <p:cNvPr id="450" name="Google Shape;450;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22. Minuut 42.5–43.5; 1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Een lokale build staat op de buildserver. Kubernetes-nodes moeten de image ook kunnen ophalen. Daarvoor gebruiken we een registry, hier Docker Hub. Ik heb vooraf een image van dezelfde code beschikbaar gemaakt. Jullie bouwen zelf om de Dockerfile te begrijpen. Daarna deployen jullie met de verstrekte registry-image. Jullie hoeven niets te pushen en gebruiken mijn Docker Hub-login niet.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Leg het verschil uit tussen de eigen lokale build en de vooraf gepubliceerde image. Toon de definitieve image-tag.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Gebruikt Kubernetes vanzelf de image die je zojuist lokaal hebt gebouwd?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Onze Deployment verwijst naar de vooraf beschikbare registry-image. De lokale build blijft op de buildserver.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Eerst bouwen jullie zelf. Daarna herhalen we het deployen.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BRONNEN:</a:t>
            </a:r>
            <a:endParaRPr/>
          </a:p>
          <a:p>
            <a:pPr indent="0" lvl="0" marL="0" rtl="0" algn="l">
              <a:spcBef>
                <a:spcPts val="0"/>
              </a:spcBef>
              <a:spcAft>
                <a:spcPts val="0"/>
              </a:spcAft>
              <a:buNone/>
            </a:pPr>
            <a:r>
              <a:rPr lang="en-US" sz="1200"/>
              <a:t>https://docs.docker.com/get-started/docker-concepts/building-images/build-tag-and-publish-an-image/</a:t>
            </a:r>
            <a:endParaRPr/>
          </a:p>
        </p:txBody>
      </p:sp>
      <p:sp>
        <p:nvSpPr>
          <p:cNvPr id="461" name="Google Shape;461;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25. Minuut 49.5–52.5; 3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Jullie hebben zelf een image gebouwd. Voor de volgende stap gebruiken we de vooraf beschikbare image die hier op het scherm staat. Ik zet die vóór de workshop klaar en controleer dat de Kubernetes-nodes hem kunnen ophalen.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 voorbeeldnaam in dit materiaal is whu1 slash sensor-simulator met de tag workshop-v5. Gebruik tijdens de workshop exact de definitieve naam die ik aangeef. Dit is een vooraf gepubliceerde build van dezelfde code, dus geen upload van jullie zojuist gebouwde lokale image.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in jullie eigen simulator-map deployment.yaml, service.yaml en ingress.yaml. Vul de verstrekte image in op de plaats VUL_BESCHIKBARE_IMAGE_IN. Vervang daarnaast overal naam tussen punthaken door jouw naam, net als bij nginx. Opslaan kan weer via vim of via downloaden, bewerken en terug uploaden.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Onze simulator heeft andere objectnamen dan nginx, zodat beide applicaties blijven bestaan. Hij luistert op poort 5000. De Service biedt poort 80 aan en gebruikt targetPort 5000. De hostname begint met simulator, gevolgd door jouw naam. Die instellingen staan al in de template.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deelnemers de definitieve image invullen en in de drie YAML-bestanden &lt;naam&gt; vervangen. Controleer dat iedereen vanuit de eigen simulator-map werkt.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Welke image komt in de Deployment: de lokale tag of de verstrekte registry-image?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 verstrekte registry-image inclusief account en tag. De nodes kunnen die ophalen.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Zijn de bestanden opgeslagen of terug geüpload? Dan deployen jullie de simulator.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image: whu1/sensor-simulator:workshop-v5</a:t>
            </a:r>
            <a:endParaRPr/>
          </a:p>
        </p:txBody>
      </p:sp>
      <p:sp>
        <p:nvSpPr>
          <p:cNvPr id="484" name="Google Shape;484;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26. Minuut 52.5–55.5; 3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voeren dezelfde stappen uit als bij nginx. Blijf in je eigen simulator-map. Met apply min f punt pas je de drie YAML-bestanden toe. App.py en de Dockerfile zijn geen Kubernetes-manifests en worden niet meegenomen.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Controleer met get pods min o wide en get svc. Zoek de simulator-Pod en Service met jouw naam. De nginx-applicatie blijft staan, want de simulator gebruikt andere objectnamen en labels.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Wacht op Running en één op één Ready. Laat even weten of jouw simulator klaar is. De bouwstenen zijn hetzelfde; alleen de image, namen en applicatiepoort zijn anders.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Deelnemers passen hun drie YAML-bestanden toe en wijzen hun eigen simulator-Pod en Service aan.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Waarom wordt jouw nginx-applicatie niet overschreven?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De simulator gebruikt eigen resource-namen en labels, anders dan de nginx-objecten.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Jouw simulator draait. Open nu je eigen simulator-URL.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kubectl -n backend-workshop apply -f .</a:t>
            </a:r>
            <a:endParaRPr/>
          </a:p>
          <a:p>
            <a:pPr indent="0" lvl="0" marL="0" rtl="0" algn="l">
              <a:spcBef>
                <a:spcPts val="0"/>
              </a:spcBef>
              <a:spcAft>
                <a:spcPts val="0"/>
              </a:spcAft>
              <a:buNone/>
            </a:pPr>
            <a:r>
              <a:rPr lang="en-US" sz="1200"/>
              <a:t>kubectl -n backend-workshop get pods -o wide</a:t>
            </a:r>
            <a:endParaRPr/>
          </a:p>
          <a:p>
            <a:pPr indent="0" lvl="0" marL="0" rtl="0" algn="l">
              <a:spcBef>
                <a:spcPts val="0"/>
              </a:spcBef>
              <a:spcAft>
                <a:spcPts val="0"/>
              </a:spcAft>
              <a:buNone/>
            </a:pPr>
            <a:r>
              <a:rPr lang="en-US" sz="1200"/>
              <a:t>kubectl -n backend-workshop get svc</a:t>
            </a:r>
            <a:endParaRPr/>
          </a:p>
        </p:txBody>
      </p:sp>
      <p:sp>
        <p:nvSpPr>
          <p:cNvPr id="503" name="Google Shape;503;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27. Minuut 55.5–57; 1.5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op je laptop de simulator-URL met jouw eigen naam en het pad slash sensor. Je ziet JSON met de voorbeeldmeting. Vernieuw de pagina: het volgnummer en de waarden veranderen.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Dit antwoord komt uit jouw eigen Kubernetes-Pod. De route is opnieuw browser, Ingress-controller, Service en Pod. Jullie hebben zelf een image gebouwd én zelf de simulator gedeployed met de vooraf beschikbare registry-image. Daarmee is stap 2 klaar.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Iedere deelnemer opent de eigen simulator-URL en vernieuwt de pagina. Vraag om bevestiging van de JSON en het veranderende volgnummer.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Komt dit antwoord uit de lokale testcontainer?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Deze URL leidt naar jouw simulator-Pod in Kubernetes, gestart uit de verstrekte image.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We ronden af door de onderdelen te benoemen.</a:t>
            </a:r>
            <a:endParaRPr/>
          </a:p>
        </p:txBody>
      </p:sp>
      <p:sp>
        <p:nvSpPr>
          <p:cNvPr id="514" name="Google Shape;514;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28. Minuut 57–58.5; 1.5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zijn bij stap 3. Bekijk jouw nginx-Pod en simulator-Pod, de twee Services en beide websites. We gebruiken alleen de get-commando’s die jullie al kennen.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Leg aan je buur of aan mij uit: wat beheert de Pod, wat kiest de juiste Pod voor netwerkverkeer en welk object koppelt je hostname aan de Service? De antwoorden zijn Deployment, Service en Ingress.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Jullie hebben een bestaande nginx-image gedeployed, zelf een simulatorimage gebouwd en vervolgens een vooraf beschikbare simulatorimage gedeployed. Zo hebben jullie de Kubernetes-route twee keer uitgevoerd.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deelnemers de rollen uitleggen en beide eigen websites openhouden.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Is de Deployment een tussenstation in het HTTP-verkeer?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Nee. Hij beheert Pods; verkeer loopt via de controller en Service naar de Pod.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De kernopdracht is klaar. Als er nog tijd is, toon ik een ander type workload.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COMMANDO’S / FRAGMENT:</a:t>
            </a:r>
            <a:endParaRPr/>
          </a:p>
          <a:p>
            <a:pPr indent="0" lvl="0" marL="0" rtl="0" algn="l">
              <a:spcBef>
                <a:spcPts val="0"/>
              </a:spcBef>
              <a:spcAft>
                <a:spcPts val="0"/>
              </a:spcAft>
              <a:buNone/>
            </a:pPr>
            <a:r>
              <a:rPr lang="en-US" sz="1200"/>
              <a:t>kubectl -n backend-workshop get pods -o wide</a:t>
            </a:r>
            <a:endParaRPr/>
          </a:p>
          <a:p>
            <a:pPr indent="0" lvl="0" marL="0" rtl="0" algn="l">
              <a:spcBef>
                <a:spcPts val="0"/>
              </a:spcBef>
              <a:spcAft>
                <a:spcPts val="0"/>
              </a:spcAft>
              <a:buNone/>
            </a:pPr>
            <a:r>
              <a:rPr lang="en-US" sz="1200"/>
              <a:t>kubectl -n backend-workshop get svc</a:t>
            </a:r>
            <a:endParaRPr/>
          </a:p>
        </p:txBody>
      </p:sp>
      <p:sp>
        <p:nvSpPr>
          <p:cNvPr id="532" name="Google Shape;532;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 name="Google Shape;547;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29. Minuut 58.5–59.5; 1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RabbitMQ is een message broker: software die berichten tussen applicaties doorgeeft en tijdelijk kan bewaren. Ik heb deze applicatie op vergelijkbare wijze gedeployed met een bestaande image en passende Kubernetes-configuratie. In deze vooraf ingerichte demo zie je berichten binnenkomen in de beheerinterface.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Toon maximaal één minuut de werkende koppeling. De deelnemerssimulator bevat geen RabbitMQ-code. Sla deze demo over bij tijdgebrek.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Welke bouwstenen herkennen jullie?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Een image, een Kubernetes-workload en netwerktoegang via passende Services.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Daarmee sluiten we de workshop af.</a:t>
            </a:r>
            <a:endParaRPr/>
          </a:p>
        </p:txBody>
      </p:sp>
      <p:sp>
        <p:nvSpPr>
          <p:cNvPr id="548" name="Google Shape;548;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Dia 30. Minuut 59.5–60; 0.5 minuten.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We begonnen bij SAS 9 en Viya en zagen waarom de architectuur ertoe doet. Jullie hebben nginx gedeployed, een eigen simulatorimage gebouwd en de simulator met een beschikbare image uitgevoerd. Je kunt nu de route van image naar Pod en van browser naar applicatie uitleggen. De slides en handleiding kun je later teruglezen op de gedeelde locatie. Bedankt voor het meedoen.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ACTIE: Laat één korte reactie komen. Verwijs naar handleiding en afgesproken opruimmoment.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VRAAG: Wat neem je mee naar je eigen backendwerk?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ANTWOORD: Eigen YAML aanpassen, nginx en de simulator deployen, de resultaten in de browser controleren en een image bouwen.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OVERGANG: Bedankt voor het meedoen.</a:t>
            </a:r>
            <a:endParaRPr/>
          </a:p>
        </p:txBody>
      </p:sp>
      <p:sp>
        <p:nvSpPr>
          <p:cNvPr id="569" name="Google Shape;569;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Backendworkshop Kubernetes</a:t>
            </a:r>
            <a:endParaRPr/>
          </a:p>
        </p:txBody>
      </p:sp>
      <p:sp>
        <p:nvSpPr>
          <p:cNvPr id="17" name="Google Shape;17;p1"/>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18" name="Google Shape;18;p1"/>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01</a:t>
            </a:r>
            <a:endParaRPr/>
          </a:p>
        </p:txBody>
      </p:sp>
      <p:sp>
        <p:nvSpPr>
          <p:cNvPr id="19" name="Google Shape;19;p1"/>
          <p:cNvSpPr/>
          <p:nvPr/>
        </p:nvSpPr>
        <p:spPr>
          <a:xfrm>
            <a:off x="533400" y="2190750"/>
            <a:ext cx="11125200" cy="17621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4200">
                <a:solidFill>
                  <a:srgbClr val="132F40"/>
                </a:solidFill>
                <a:latin typeface="Helvetica Neue"/>
                <a:ea typeface="Helvetica Neue"/>
                <a:cs typeface="Helvetica Neue"/>
                <a:sym typeface="Helvetica Neue"/>
              </a:rPr>
              <a:t>De backend achter</a:t>
            </a:r>
            <a:endParaRPr/>
          </a:p>
          <a:p>
            <a:pPr indent="0" lvl="0" marL="0" marR="0" rtl="0" algn="l">
              <a:spcBef>
                <a:spcPts val="0"/>
              </a:spcBef>
              <a:spcAft>
                <a:spcPts val="0"/>
              </a:spcAft>
              <a:buNone/>
            </a:pPr>
            <a:r>
              <a:rPr b="1" lang="en-US" sz="4200">
                <a:solidFill>
                  <a:srgbClr val="132F40"/>
                </a:solidFill>
                <a:latin typeface="Helvetica Neue"/>
                <a:ea typeface="Helvetica Neue"/>
                <a:cs typeface="Helvetica Neue"/>
                <a:sym typeface="Helvetica Neue"/>
              </a:rPr>
              <a:t>SAS Studio en Visual Analytics</a:t>
            </a:r>
            <a:endParaRPr/>
          </a:p>
        </p:txBody>
      </p:sp>
      <p:sp>
        <p:nvSpPr>
          <p:cNvPr id="20" name="Google Shape;20;p1"/>
          <p:cNvSpPr/>
          <p:nvPr/>
        </p:nvSpPr>
        <p:spPr>
          <a:xfrm>
            <a:off x="533400" y="4381500"/>
            <a:ext cx="104775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550">
                <a:solidFill>
                  <a:srgbClr val="12677E"/>
                </a:solidFill>
                <a:latin typeface="Helvetica Neue"/>
                <a:ea typeface="Helvetica Neue"/>
                <a:cs typeface="Helvetica Neue"/>
                <a:sym typeface="Helvetica Neue"/>
              </a:rPr>
              <a:t>Begrijpen, deployen en controleren</a:t>
            </a:r>
            <a:endParaRPr/>
          </a:p>
        </p:txBody>
      </p:sp>
      <p:sp>
        <p:nvSpPr>
          <p:cNvPr id="21" name="Google Shape;21;p1"/>
          <p:cNvSpPr/>
          <p:nvPr/>
        </p:nvSpPr>
        <p:spPr>
          <a:xfrm>
            <a:off x="533400" y="5353050"/>
            <a:ext cx="104775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00">
                <a:solidFill>
                  <a:srgbClr val="53616B"/>
                </a:solidFill>
                <a:latin typeface="Helvetica Neue"/>
                <a:ea typeface="Helvetica Neue"/>
                <a:cs typeface="Helvetica Neue"/>
                <a:sym typeface="Helvetica Neue"/>
              </a:rPr>
              <a:t>60 minuten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De route van dit uur</a:t>
            </a:r>
            <a:endParaRPr/>
          </a:p>
        </p:txBody>
      </p:sp>
      <p:sp>
        <p:nvSpPr>
          <p:cNvPr id="28" name="Google Shape;28;p2"/>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29" name="Google Shape;29;p2"/>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02</a:t>
            </a:r>
            <a:endParaRPr/>
          </a:p>
        </p:txBody>
      </p:sp>
      <p:sp>
        <p:nvSpPr>
          <p:cNvPr id="30" name="Google Shape;30;p2"/>
          <p:cNvSpPr/>
          <p:nvPr/>
        </p:nvSpPr>
        <p:spPr>
          <a:xfrm>
            <a:off x="857250" y="1828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12677E"/>
                </a:solidFill>
                <a:latin typeface="Helvetica Neue"/>
                <a:ea typeface="Helvetica Neue"/>
                <a:cs typeface="Helvetica Neue"/>
                <a:sym typeface="Helvetica Neue"/>
              </a:rPr>
              <a:t>SAS en Kubernetes</a:t>
            </a:r>
            <a:endParaRPr/>
          </a:p>
        </p:txBody>
      </p:sp>
      <p:sp>
        <p:nvSpPr>
          <p:cNvPr id="31" name="Google Shape;31;p2"/>
          <p:cNvSpPr/>
          <p:nvPr/>
        </p:nvSpPr>
        <p:spPr>
          <a:xfrm>
            <a:off x="6334125" y="1828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12677E"/>
                </a:solidFill>
                <a:latin typeface="Helvetica Neue"/>
                <a:ea typeface="Helvetica Neue"/>
                <a:cs typeface="Helvetica Neue"/>
                <a:sym typeface="Helvetica Neue"/>
              </a:rPr>
              <a:t>Begrijpen wat er draait</a:t>
            </a:r>
            <a:endParaRPr/>
          </a:p>
        </p:txBody>
      </p:sp>
      <p:sp>
        <p:nvSpPr>
          <p:cNvPr id="32" name="Google Shape;32;p2"/>
          <p:cNvSpPr/>
          <p:nvPr/>
        </p:nvSpPr>
        <p:spPr>
          <a:xfrm>
            <a:off x="2952750" y="2390775"/>
            <a:ext cx="228600" cy="257175"/>
          </a:xfrm>
          <a:prstGeom prst="downArrow">
            <a:avLst>
              <a:gd fmla="val 50000" name="adj1"/>
              <a:gd fmla="val 50000" name="adj2"/>
            </a:avLst>
          </a:prstGeom>
          <a:solidFill>
            <a:srgbClr val="126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857250" y="2781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53616B"/>
                </a:solidFill>
                <a:latin typeface="Helvetica Neue"/>
                <a:ea typeface="Helvetica Neue"/>
                <a:cs typeface="Helvetica Neue"/>
                <a:sym typeface="Helvetica Neue"/>
              </a:rPr>
              <a:t>1  Bestaande image</a:t>
            </a:r>
            <a:endParaRPr/>
          </a:p>
        </p:txBody>
      </p:sp>
      <p:sp>
        <p:nvSpPr>
          <p:cNvPr id="34" name="Google Shape;34;p2"/>
          <p:cNvSpPr/>
          <p:nvPr/>
        </p:nvSpPr>
        <p:spPr>
          <a:xfrm>
            <a:off x="6334125" y="2781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53616B"/>
                </a:solidFill>
                <a:latin typeface="Helvetica Neue"/>
                <a:ea typeface="Helvetica Neue"/>
                <a:cs typeface="Helvetica Neue"/>
                <a:sym typeface="Helvetica Neue"/>
              </a:rPr>
              <a:t>ConfigMap, Deployment, Service, Ingress</a:t>
            </a:r>
            <a:endParaRPr/>
          </a:p>
        </p:txBody>
      </p:sp>
      <p:sp>
        <p:nvSpPr>
          <p:cNvPr id="35" name="Google Shape;35;p2"/>
          <p:cNvSpPr/>
          <p:nvPr/>
        </p:nvSpPr>
        <p:spPr>
          <a:xfrm>
            <a:off x="2952750" y="3343275"/>
            <a:ext cx="228600" cy="257175"/>
          </a:xfrm>
          <a:prstGeom prst="downArrow">
            <a:avLst>
              <a:gd fmla="val 50000" name="adj1"/>
              <a:gd fmla="val 50000" name="adj2"/>
            </a:avLst>
          </a:prstGeom>
          <a:solidFill>
            <a:srgbClr val="5361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857250" y="3733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53616B"/>
                </a:solidFill>
                <a:latin typeface="Helvetica Neue"/>
                <a:ea typeface="Helvetica Neue"/>
                <a:cs typeface="Helvetica Neue"/>
                <a:sym typeface="Helvetica Neue"/>
              </a:rPr>
              <a:t>2  Eigen image</a:t>
            </a:r>
            <a:endParaRPr/>
          </a:p>
        </p:txBody>
      </p:sp>
      <p:sp>
        <p:nvSpPr>
          <p:cNvPr id="37" name="Google Shape;37;p2"/>
          <p:cNvSpPr/>
          <p:nvPr/>
        </p:nvSpPr>
        <p:spPr>
          <a:xfrm>
            <a:off x="6334125" y="3733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53616B"/>
                </a:solidFill>
                <a:latin typeface="Helvetica Neue"/>
                <a:ea typeface="Helvetica Neue"/>
                <a:cs typeface="Helvetica Neue"/>
                <a:sym typeface="Helvetica Neue"/>
              </a:rPr>
              <a:t>Zelf bouwen en zelf deployen</a:t>
            </a:r>
            <a:endParaRPr/>
          </a:p>
        </p:txBody>
      </p:sp>
      <p:sp>
        <p:nvSpPr>
          <p:cNvPr id="38" name="Google Shape;38;p2"/>
          <p:cNvSpPr/>
          <p:nvPr/>
        </p:nvSpPr>
        <p:spPr>
          <a:xfrm>
            <a:off x="2952750" y="4295775"/>
            <a:ext cx="228600" cy="257175"/>
          </a:xfrm>
          <a:prstGeom prst="downArrow">
            <a:avLst>
              <a:gd fmla="val 50000" name="adj1"/>
              <a:gd fmla="val 50000" name="adj2"/>
            </a:avLst>
          </a:prstGeom>
          <a:solidFill>
            <a:srgbClr val="5361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57250" y="4686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53616B"/>
                </a:solidFill>
                <a:latin typeface="Helvetica Neue"/>
                <a:ea typeface="Helvetica Neue"/>
                <a:cs typeface="Helvetica Neue"/>
                <a:sym typeface="Helvetica Neue"/>
              </a:rPr>
              <a:t>3  Controleren</a:t>
            </a:r>
            <a:endParaRPr/>
          </a:p>
        </p:txBody>
      </p:sp>
      <p:sp>
        <p:nvSpPr>
          <p:cNvPr id="40" name="Google Shape;40;p2"/>
          <p:cNvSpPr/>
          <p:nvPr/>
        </p:nvSpPr>
        <p:spPr>
          <a:xfrm>
            <a:off x="6334125" y="4686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53616B"/>
                </a:solidFill>
                <a:latin typeface="Helvetica Neue"/>
                <a:ea typeface="Helvetica Neue"/>
                <a:cs typeface="Helvetica Neue"/>
                <a:sym typeface="Helvetica Neue"/>
              </a:rPr>
              <a:t>Resultaat en verklaring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3"/>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SAS 9: een platform met verschillende lagen</a:t>
            </a:r>
            <a:endParaRPr/>
          </a:p>
        </p:txBody>
      </p:sp>
      <p:sp>
        <p:nvSpPr>
          <p:cNvPr id="47" name="Google Shape;47;p3"/>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48" name="Google Shape;48;p3"/>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03</a:t>
            </a:r>
            <a:endParaRPr/>
          </a:p>
        </p:txBody>
      </p:sp>
      <p:sp>
        <p:nvSpPr>
          <p:cNvPr id="49" name="Google Shape;49;p3"/>
          <p:cNvSpPr/>
          <p:nvPr/>
        </p:nvSpPr>
        <p:spPr>
          <a:xfrm>
            <a:off x="533400" y="1543050"/>
            <a:ext cx="11125200" cy="3333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SAS 9.4-platform met centraal metadatabeheer</a:t>
            </a:r>
            <a:endParaRPr/>
          </a:p>
        </p:txBody>
      </p:sp>
      <p:sp>
        <p:nvSpPr>
          <p:cNvPr id="50" name="Google Shape;50;p3"/>
          <p:cNvSpPr/>
          <p:nvPr/>
        </p:nvSpPr>
        <p:spPr>
          <a:xfrm>
            <a:off x="533400" y="2028825"/>
            <a:ext cx="6286500" cy="704850"/>
          </a:xfrm>
          <a:prstGeom prst="rect">
            <a:avLst/>
          </a:prstGeom>
          <a:solidFill>
            <a:srgbClr val="F0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704850" y="2085975"/>
            <a:ext cx="5886450" cy="2762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75">
                <a:solidFill>
                  <a:srgbClr val="12677E"/>
                </a:solidFill>
                <a:latin typeface="Helvetica Neue"/>
                <a:ea typeface="Helvetica Neue"/>
                <a:cs typeface="Helvetica Neue"/>
                <a:sym typeface="Helvetica Neue"/>
              </a:rPr>
              <a:t>Clients</a:t>
            </a:r>
            <a:endParaRPr/>
          </a:p>
        </p:txBody>
      </p:sp>
      <p:sp>
        <p:nvSpPr>
          <p:cNvPr id="52" name="Google Shape;52;p3"/>
          <p:cNvSpPr/>
          <p:nvPr/>
        </p:nvSpPr>
        <p:spPr>
          <a:xfrm>
            <a:off x="704850" y="2390775"/>
            <a:ext cx="588645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Browser of desktop, zoals Enterprise Guide</a:t>
            </a:r>
            <a:endParaRPr/>
          </a:p>
        </p:txBody>
      </p:sp>
      <p:sp>
        <p:nvSpPr>
          <p:cNvPr id="53" name="Google Shape;53;p3"/>
          <p:cNvSpPr/>
          <p:nvPr/>
        </p:nvSpPr>
        <p:spPr>
          <a:xfrm>
            <a:off x="3476625" y="2771775"/>
            <a:ext cx="228600" cy="123825"/>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533400" y="2933700"/>
            <a:ext cx="6286500" cy="704850"/>
          </a:xfrm>
          <a:prstGeom prst="rect">
            <a:avLst/>
          </a:prstGeom>
          <a:solidFill>
            <a:srgbClr val="F0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704850" y="2990850"/>
            <a:ext cx="5886450" cy="2762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75">
                <a:solidFill>
                  <a:srgbClr val="12677E"/>
                </a:solidFill>
                <a:latin typeface="Helvetica Neue"/>
                <a:ea typeface="Helvetica Neue"/>
                <a:cs typeface="Helvetica Neue"/>
                <a:sym typeface="Helvetica Neue"/>
              </a:rPr>
              <a:t>Middle tier</a:t>
            </a:r>
            <a:endParaRPr/>
          </a:p>
        </p:txBody>
      </p:sp>
      <p:sp>
        <p:nvSpPr>
          <p:cNvPr id="56" name="Google Shape;56;p3"/>
          <p:cNvSpPr/>
          <p:nvPr/>
        </p:nvSpPr>
        <p:spPr>
          <a:xfrm>
            <a:off x="704850" y="3295650"/>
            <a:ext cx="588645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Webservers en webapplicaties</a:t>
            </a:r>
            <a:endParaRPr/>
          </a:p>
        </p:txBody>
      </p:sp>
      <p:sp>
        <p:nvSpPr>
          <p:cNvPr id="57" name="Google Shape;57;p3"/>
          <p:cNvSpPr/>
          <p:nvPr/>
        </p:nvSpPr>
        <p:spPr>
          <a:xfrm>
            <a:off x="3476625" y="3676650"/>
            <a:ext cx="228600" cy="123825"/>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533400" y="3838575"/>
            <a:ext cx="6286500" cy="704850"/>
          </a:xfrm>
          <a:prstGeom prst="rect">
            <a:avLst/>
          </a:prstGeom>
          <a:solidFill>
            <a:srgbClr val="F0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704850" y="3895725"/>
            <a:ext cx="5886450" cy="2762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75">
                <a:solidFill>
                  <a:srgbClr val="12677E"/>
                </a:solidFill>
                <a:latin typeface="Helvetica Neue"/>
                <a:ea typeface="Helvetica Neue"/>
                <a:cs typeface="Helvetica Neue"/>
                <a:sym typeface="Helvetica Neue"/>
              </a:rPr>
              <a:t>SAS-serverlaag</a:t>
            </a:r>
            <a:endParaRPr/>
          </a:p>
        </p:txBody>
      </p:sp>
      <p:sp>
        <p:nvSpPr>
          <p:cNvPr id="60" name="Google Shape;60;p3"/>
          <p:cNvSpPr/>
          <p:nvPr/>
        </p:nvSpPr>
        <p:spPr>
          <a:xfrm>
            <a:off x="704850" y="4200525"/>
            <a:ext cx="588645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Workspace Server en batchprocessen</a:t>
            </a:r>
            <a:endParaRPr/>
          </a:p>
        </p:txBody>
      </p:sp>
      <p:sp>
        <p:nvSpPr>
          <p:cNvPr id="61" name="Google Shape;61;p3"/>
          <p:cNvSpPr/>
          <p:nvPr/>
        </p:nvSpPr>
        <p:spPr>
          <a:xfrm>
            <a:off x="3476625" y="4581525"/>
            <a:ext cx="228600" cy="123825"/>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533400" y="4743450"/>
            <a:ext cx="6286500" cy="704850"/>
          </a:xfrm>
          <a:prstGeom prst="rect">
            <a:avLst/>
          </a:prstGeom>
          <a:solidFill>
            <a:srgbClr val="F0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704850" y="4800600"/>
            <a:ext cx="5886450" cy="2762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75">
                <a:solidFill>
                  <a:srgbClr val="12677E"/>
                </a:solidFill>
                <a:latin typeface="Helvetica Neue"/>
                <a:ea typeface="Helvetica Neue"/>
                <a:cs typeface="Helvetica Neue"/>
                <a:sym typeface="Helvetica Neue"/>
              </a:rPr>
              <a:t>Datalaag</a:t>
            </a:r>
            <a:endParaRPr/>
          </a:p>
        </p:txBody>
      </p:sp>
      <p:sp>
        <p:nvSpPr>
          <p:cNvPr id="64" name="Google Shape;64;p3"/>
          <p:cNvSpPr/>
          <p:nvPr/>
        </p:nvSpPr>
        <p:spPr>
          <a:xfrm>
            <a:off x="704850" y="5105400"/>
            <a:ext cx="588645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SAS-tabellen, bestanden en databases</a:t>
            </a:r>
            <a:endParaRPr/>
          </a:p>
        </p:txBody>
      </p:sp>
      <p:sp>
        <p:nvSpPr>
          <p:cNvPr id="65" name="Google Shape;65;p3"/>
          <p:cNvSpPr/>
          <p:nvPr/>
        </p:nvSpPr>
        <p:spPr>
          <a:xfrm>
            <a:off x="7429500" y="2038350"/>
            <a:ext cx="42291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75">
                <a:solidFill>
                  <a:srgbClr val="132F40"/>
                </a:solidFill>
                <a:latin typeface="Helvetica Neue"/>
                <a:ea typeface="Helvetica Neue"/>
                <a:cs typeface="Helvetica Neue"/>
                <a:sym typeface="Helvetica Neue"/>
              </a:rPr>
              <a:t>Centrale rol van metadata</a:t>
            </a:r>
            <a:endParaRPr/>
          </a:p>
        </p:txBody>
      </p:sp>
      <p:sp>
        <p:nvSpPr>
          <p:cNvPr id="66" name="Google Shape;66;p3"/>
          <p:cNvSpPr/>
          <p:nvPr/>
        </p:nvSpPr>
        <p:spPr>
          <a:xfrm>
            <a:off x="7429500" y="2800350"/>
            <a:ext cx="4229100" cy="15335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7620000" y="2895600"/>
            <a:ext cx="3848100" cy="3905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75">
                <a:solidFill>
                  <a:srgbClr val="12677E"/>
                </a:solidFill>
                <a:latin typeface="Helvetica Neue"/>
                <a:ea typeface="Helvetica Neue"/>
                <a:cs typeface="Helvetica Neue"/>
                <a:sym typeface="Helvetica Neue"/>
              </a:rPr>
              <a:t>Metadata Server</a:t>
            </a:r>
            <a:endParaRPr/>
          </a:p>
        </p:txBody>
      </p:sp>
      <p:sp>
        <p:nvSpPr>
          <p:cNvPr id="68" name="Google Shape;68;p3"/>
          <p:cNvSpPr/>
          <p:nvPr/>
        </p:nvSpPr>
        <p:spPr>
          <a:xfrm>
            <a:off x="7620000" y="3429000"/>
            <a:ext cx="3848100" cy="6572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75">
                <a:solidFill>
                  <a:srgbClr val="132F40"/>
                </a:solidFill>
                <a:latin typeface="Helvetica Neue"/>
                <a:ea typeface="Helvetica Neue"/>
                <a:cs typeface="Helvetica Neue"/>
                <a:sym typeface="Helvetica Neue"/>
              </a:rPr>
              <a:t>Beschrijvingen van bronnen,</a:t>
            </a:r>
            <a:endParaRPr/>
          </a:p>
          <a:p>
            <a:pPr indent="0" lvl="0" marL="0" marR="0" rtl="0" algn="l">
              <a:spcBef>
                <a:spcPts val="0"/>
              </a:spcBef>
              <a:spcAft>
                <a:spcPts val="0"/>
              </a:spcAft>
              <a:buNone/>
            </a:pPr>
            <a:r>
              <a:rPr b="0" lang="en-US" sz="1875">
                <a:solidFill>
                  <a:srgbClr val="132F40"/>
                </a:solidFill>
                <a:latin typeface="Helvetica Neue"/>
                <a:ea typeface="Helvetica Neue"/>
                <a:cs typeface="Helvetica Neue"/>
                <a:sym typeface="Helvetica Neue"/>
              </a:rPr>
              <a:t>gebruikers en rechten</a:t>
            </a:r>
            <a:endParaRPr/>
          </a:p>
        </p:txBody>
      </p:sp>
      <p:sp>
        <p:nvSpPr>
          <p:cNvPr id="69" name="Google Shape;69;p3"/>
          <p:cNvSpPr/>
          <p:nvPr/>
        </p:nvSpPr>
        <p:spPr>
          <a:xfrm>
            <a:off x="6953250" y="3143250"/>
            <a:ext cx="361950" cy="209550"/>
          </a:xfrm>
          <a:prstGeom prst="lef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6953250" y="3876675"/>
            <a:ext cx="361950" cy="209550"/>
          </a:xfrm>
          <a:prstGeom prst="lef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7429500" y="4510088"/>
            <a:ext cx="4229100" cy="37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025">
                <a:solidFill>
                  <a:srgbClr val="132F40"/>
                </a:solidFill>
                <a:latin typeface="Helvetica Neue"/>
                <a:ea typeface="Helvetica Neue"/>
                <a:cs typeface="Helvetica Neue"/>
                <a:sym typeface="Helvetica Neue"/>
              </a:rPr>
              <a:t>Beheer op servers of VM’s</a:t>
            </a:r>
            <a:endParaRPr/>
          </a:p>
        </p:txBody>
      </p:sp>
      <p:sp>
        <p:nvSpPr>
          <p:cNvPr id="72" name="Google Shape;72;p3"/>
          <p:cNvSpPr/>
          <p:nvPr/>
        </p:nvSpPr>
        <p:spPr>
          <a:xfrm>
            <a:off x="7429500" y="5057775"/>
            <a:ext cx="4229100" cy="6000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0" sz="1800">
              <a:solidFill>
                <a:srgbClr val="132F40"/>
              </a:solidFill>
              <a:latin typeface="Helvetica Neue"/>
              <a:ea typeface="Helvetica Neue"/>
              <a:cs typeface="Helvetica Neue"/>
              <a:sym typeface="Helvetica Neue"/>
            </a:endParaRPr>
          </a:p>
          <a:p>
            <a:pPr indent="0" lvl="0" marL="0" marR="0" rtl="0" algn="l">
              <a:spcBef>
                <a:spcPts val="0"/>
              </a:spcBef>
              <a:spcAft>
                <a:spcPts val="0"/>
              </a:spcAft>
              <a:buNone/>
            </a:pPr>
            <a:r>
              <a:rPr lang="en-US" sz="1800">
                <a:solidFill>
                  <a:srgbClr val="132F40"/>
                </a:solidFill>
                <a:latin typeface="Helvetica Neue"/>
                <a:ea typeface="Helvetica Neue"/>
                <a:cs typeface="Helvetica Neue"/>
                <a:sym typeface="Helvetica Neue"/>
              </a:rPr>
              <a:t>Verschil zit in manier waarop onderdelen zijn georganiseerd en uitgevoerd</a:t>
            </a:r>
            <a:endParaRPr sz="1800">
              <a:solidFill>
                <a:srgbClr val="132F40"/>
              </a:solidFill>
              <a:latin typeface="Helvetica Neue"/>
              <a:ea typeface="Helvetica Neue"/>
              <a:cs typeface="Helvetica Neue"/>
              <a:sym typeface="Helvetica Neue"/>
            </a:endParaRPr>
          </a:p>
        </p:txBody>
      </p:sp>
      <p:sp>
        <p:nvSpPr>
          <p:cNvPr id="73" name="Google Shape;73;p3"/>
          <p:cNvSpPr/>
          <p:nvPr/>
        </p:nvSpPr>
        <p:spPr>
          <a:xfrm>
            <a:off x="533400" y="5934075"/>
            <a:ext cx="11125200" cy="28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53616B"/>
                </a:solidFill>
                <a:latin typeface="Helvetica Neue"/>
                <a:ea typeface="Helvetica Neue"/>
                <a:cs typeface="Helvetica Neue"/>
                <a:sym typeface="Helvetica Neue"/>
              </a:rPr>
              <a:t>Vereenvoudigde webroute. Enterprise Guide kan ook direct met de SAS-serverlaag werken.</a:t>
            </a:r>
            <a:endParaRPr/>
          </a:p>
        </p:txBody>
      </p:sp>
      <p:sp>
        <p:nvSpPr>
          <p:cNvPr id="74" name="Google Shape;74;p3"/>
          <p:cNvSpPr/>
          <p:nvPr/>
        </p:nvSpPr>
        <p:spPr>
          <a:xfrm>
            <a:off x="533400" y="6238875"/>
            <a:ext cx="11125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425">
                <a:solidFill>
                  <a:srgbClr val="53616B"/>
                </a:solidFill>
                <a:latin typeface="Helvetica Neue"/>
                <a:ea typeface="Helvetica Neue"/>
                <a:cs typeface="Helvetica Neue"/>
                <a:sym typeface="Helvetica Neue"/>
              </a:rPr>
              <a:t>De lagen kunnen over één of meerdere machines verdeeld zijn.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 name="Shape 79"/>
        <p:cNvGrpSpPr/>
        <p:nvPr/>
      </p:nvGrpSpPr>
      <p:grpSpPr>
        <a:xfrm>
          <a:off x="0" y="0"/>
          <a:ext cx="0" cy="0"/>
          <a:chOff x="0" y="0"/>
          <a:chExt cx="0" cy="0"/>
        </a:xfrm>
      </p:grpSpPr>
      <p:sp>
        <p:nvSpPr>
          <p:cNvPr id="80" name="Google Shape;80;p4"/>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SAS Viya: services in containers op Kubernetes (Cloud)</a:t>
            </a:r>
            <a:endParaRPr/>
          </a:p>
        </p:txBody>
      </p:sp>
      <p:sp>
        <p:nvSpPr>
          <p:cNvPr id="81" name="Google Shape;81;p4"/>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82" name="Google Shape;82;p4"/>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04</a:t>
            </a:r>
            <a:endParaRPr/>
          </a:p>
        </p:txBody>
      </p:sp>
      <p:sp>
        <p:nvSpPr>
          <p:cNvPr id="83" name="Google Shape;83;p4"/>
          <p:cNvSpPr/>
          <p:nvPr/>
        </p:nvSpPr>
        <p:spPr>
          <a:xfrm>
            <a:off x="533400" y="1562100"/>
            <a:ext cx="1112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Dezelfde gebruikersactiviteiten: code uitvoeren en rapporten bekijken</a:t>
            </a:r>
            <a:endParaRPr/>
          </a:p>
        </p:txBody>
      </p:sp>
      <p:sp>
        <p:nvSpPr>
          <p:cNvPr id="84" name="Google Shape;84;p4"/>
          <p:cNvSpPr/>
          <p:nvPr/>
        </p:nvSpPr>
        <p:spPr>
          <a:xfrm>
            <a:off x="533400" y="2238375"/>
            <a:ext cx="11125200" cy="32766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742950" y="2352675"/>
            <a:ext cx="10706100" cy="4381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75">
                <a:solidFill>
                  <a:srgbClr val="12677E"/>
                </a:solidFill>
                <a:latin typeface="Helvetica Neue"/>
                <a:ea typeface="Helvetica Neue"/>
                <a:cs typeface="Helvetica Neue"/>
                <a:sym typeface="Helvetica Neue"/>
              </a:rPr>
              <a:t>Kubernetes beheert de uitvoering van containers in Pods</a:t>
            </a:r>
            <a:endParaRPr/>
          </a:p>
        </p:txBody>
      </p:sp>
      <p:sp>
        <p:nvSpPr>
          <p:cNvPr id="86" name="Google Shape;86;p4"/>
          <p:cNvSpPr/>
          <p:nvPr/>
        </p:nvSpPr>
        <p:spPr>
          <a:xfrm>
            <a:off x="742950" y="2990850"/>
            <a:ext cx="3343275" cy="8858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895350" y="3086100"/>
            <a:ext cx="303847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SAS Studio</a:t>
            </a:r>
            <a:endParaRPr/>
          </a:p>
        </p:txBody>
      </p:sp>
      <p:sp>
        <p:nvSpPr>
          <p:cNvPr id="88" name="Google Shape;88;p4"/>
          <p:cNvSpPr/>
          <p:nvPr/>
        </p:nvSpPr>
        <p:spPr>
          <a:xfrm>
            <a:off x="895350" y="3495675"/>
            <a:ext cx="3038475" cy="3143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Werkomgeving voor code</a:t>
            </a:r>
            <a:endParaRPr/>
          </a:p>
        </p:txBody>
      </p:sp>
      <p:sp>
        <p:nvSpPr>
          <p:cNvPr id="89" name="Google Shape;89;p4"/>
          <p:cNvSpPr/>
          <p:nvPr/>
        </p:nvSpPr>
        <p:spPr>
          <a:xfrm>
            <a:off x="4324350" y="2990850"/>
            <a:ext cx="3333750" cy="8858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4476750" y="3086100"/>
            <a:ext cx="302895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Visual Analytics</a:t>
            </a:r>
            <a:endParaRPr/>
          </a:p>
        </p:txBody>
      </p:sp>
      <p:sp>
        <p:nvSpPr>
          <p:cNvPr id="91" name="Google Shape;91;p4"/>
          <p:cNvSpPr/>
          <p:nvPr/>
        </p:nvSpPr>
        <p:spPr>
          <a:xfrm>
            <a:off x="4476750" y="3495675"/>
            <a:ext cx="3028950" cy="3143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Rapporten en analyses</a:t>
            </a:r>
            <a:endParaRPr/>
          </a:p>
        </p:txBody>
      </p:sp>
      <p:sp>
        <p:nvSpPr>
          <p:cNvPr id="92" name="Google Shape;92;p4"/>
          <p:cNvSpPr/>
          <p:nvPr/>
        </p:nvSpPr>
        <p:spPr>
          <a:xfrm>
            <a:off x="7896225" y="2990850"/>
            <a:ext cx="3552825" cy="8858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8048625" y="3086100"/>
            <a:ext cx="324802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Platformservices</a:t>
            </a:r>
            <a:endParaRPr/>
          </a:p>
        </p:txBody>
      </p:sp>
      <p:sp>
        <p:nvSpPr>
          <p:cNvPr id="94" name="Google Shape;94;p4"/>
          <p:cNvSpPr/>
          <p:nvPr/>
        </p:nvSpPr>
        <p:spPr>
          <a:xfrm>
            <a:off x="8048625" y="3495675"/>
            <a:ext cx="3248025" cy="3143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O.a. content en autorisatie</a:t>
            </a:r>
            <a:endParaRPr/>
          </a:p>
        </p:txBody>
      </p:sp>
      <p:sp>
        <p:nvSpPr>
          <p:cNvPr id="95" name="Google Shape;95;p4"/>
          <p:cNvSpPr/>
          <p:nvPr/>
        </p:nvSpPr>
        <p:spPr>
          <a:xfrm>
            <a:off x="2209800" y="3933825"/>
            <a:ext cx="228600" cy="247650"/>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5962650" y="3990975"/>
            <a:ext cx="28575" cy="123825"/>
          </a:xfrm>
          <a:prstGeom prst="rect">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5962650" y="4095750"/>
            <a:ext cx="2543175" cy="28575"/>
          </a:xfrm>
          <a:prstGeom prst="rect">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8391525" y="4114800"/>
            <a:ext cx="228600" cy="85725"/>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742950" y="4286250"/>
            <a:ext cx="5124450" cy="1000125"/>
          </a:xfrm>
          <a:prstGeom prst="rect">
            <a:avLst/>
          </a:prstGeom>
          <a:solidFill>
            <a:srgbClr val="F0F5F7"/>
          </a:solidFill>
          <a:ln cap="flat" cmpd="sng" w="19050">
            <a:solidFill>
              <a:srgbClr val="237A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895350" y="4381500"/>
            <a:ext cx="481965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237A56"/>
                </a:solidFill>
                <a:latin typeface="Helvetica Neue"/>
                <a:ea typeface="Helvetica Neue"/>
                <a:cs typeface="Helvetica Neue"/>
                <a:sym typeface="Helvetica Neue"/>
              </a:rPr>
              <a:t>Compute</a:t>
            </a:r>
            <a:endParaRPr/>
          </a:p>
        </p:txBody>
      </p:sp>
      <p:sp>
        <p:nvSpPr>
          <p:cNvPr id="101" name="Google Shape;101;p4"/>
          <p:cNvSpPr/>
          <p:nvPr/>
        </p:nvSpPr>
        <p:spPr>
          <a:xfrm>
            <a:off x="895350" y="4791075"/>
            <a:ext cx="4819650"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Voert SAS-programma’s uit</a:t>
            </a:r>
            <a:endParaRPr/>
          </a:p>
        </p:txBody>
      </p:sp>
      <p:sp>
        <p:nvSpPr>
          <p:cNvPr id="102" name="Google Shape;102;p4"/>
          <p:cNvSpPr/>
          <p:nvPr/>
        </p:nvSpPr>
        <p:spPr>
          <a:xfrm>
            <a:off x="6334125" y="4286250"/>
            <a:ext cx="5114925" cy="1000125"/>
          </a:xfrm>
          <a:prstGeom prst="rect">
            <a:avLst/>
          </a:prstGeom>
          <a:solidFill>
            <a:srgbClr val="F0F5F7"/>
          </a:solidFill>
          <a:ln cap="flat" cmpd="sng" w="19050">
            <a:solidFill>
              <a:srgbClr val="237A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6486525" y="4381500"/>
            <a:ext cx="481012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237A56"/>
                </a:solidFill>
                <a:latin typeface="Helvetica Neue"/>
                <a:ea typeface="Helvetica Neue"/>
                <a:cs typeface="Helvetica Neue"/>
                <a:sym typeface="Helvetica Neue"/>
              </a:rPr>
              <a:t>CAS</a:t>
            </a:r>
            <a:endParaRPr/>
          </a:p>
        </p:txBody>
      </p:sp>
      <p:sp>
        <p:nvSpPr>
          <p:cNvPr id="104" name="Google Shape;104;p4"/>
          <p:cNvSpPr/>
          <p:nvPr/>
        </p:nvSpPr>
        <p:spPr>
          <a:xfrm>
            <a:off x="6486525" y="4791075"/>
            <a:ext cx="4810125"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Analytische verwerking in geheugen</a:t>
            </a:r>
            <a:endParaRPr/>
          </a:p>
        </p:txBody>
      </p:sp>
      <p:sp>
        <p:nvSpPr>
          <p:cNvPr id="105" name="Google Shape;105;p4"/>
          <p:cNvSpPr/>
          <p:nvPr/>
        </p:nvSpPr>
        <p:spPr>
          <a:xfrm>
            <a:off x="533400" y="5657850"/>
            <a:ext cx="4048125" cy="371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025">
                <a:solidFill>
                  <a:srgbClr val="132F40"/>
                </a:solidFill>
                <a:latin typeface="Helvetica Neue"/>
                <a:ea typeface="Helvetica Neue"/>
                <a:cs typeface="Helvetica Neue"/>
                <a:sym typeface="Helvetica Neue"/>
              </a:rPr>
              <a:t>Data en blijvende opslag</a:t>
            </a:r>
            <a:endParaRPr/>
          </a:p>
        </p:txBody>
      </p:sp>
      <p:sp>
        <p:nvSpPr>
          <p:cNvPr id="106" name="Google Shape;106;p4"/>
          <p:cNvSpPr/>
          <p:nvPr/>
        </p:nvSpPr>
        <p:spPr>
          <a:xfrm>
            <a:off x="4667250" y="5619750"/>
            <a:ext cx="699135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00">
                <a:solidFill>
                  <a:srgbClr val="53616B"/>
                </a:solidFill>
                <a:latin typeface="Helvetica Neue"/>
                <a:ea typeface="Helvetica Neue"/>
                <a:cs typeface="Helvetica Neue"/>
                <a:sym typeface="Helvetica Neue"/>
              </a:rPr>
              <a:t>Apps werken samen; één app kan meerdere Pods gebruiken.</a:t>
            </a:r>
            <a:endParaRPr/>
          </a:p>
        </p:txBody>
      </p:sp>
      <p:sp>
        <p:nvSpPr>
          <p:cNvPr id="107" name="Google Shape;107;p4"/>
          <p:cNvSpPr/>
          <p:nvPr/>
        </p:nvSpPr>
        <p:spPr>
          <a:xfrm>
            <a:off x="533400" y="6115050"/>
            <a:ext cx="11125200" cy="2190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425">
                <a:solidFill>
                  <a:srgbClr val="53616B"/>
                </a:solidFill>
                <a:latin typeface="Helvetica Neue"/>
                <a:ea typeface="Helvetica Neue"/>
                <a:cs typeface="Helvetica Neue"/>
                <a:sym typeface="Helvetica Neue"/>
              </a:rPr>
              <a:t>Schema van het huidige Viya-platform. Studio kan ook CAS gebruiken.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sp>
        <p:nvSpPr>
          <p:cNvPr id="113" name="Google Shape;113;p8"/>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Live kijken achter de SAS-schermen</a:t>
            </a:r>
            <a:endParaRPr/>
          </a:p>
        </p:txBody>
      </p:sp>
      <p:sp>
        <p:nvSpPr>
          <p:cNvPr id="114" name="Google Shape;114;p8"/>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115" name="Google Shape;115;p8"/>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05</a:t>
            </a:r>
            <a:endParaRPr/>
          </a:p>
        </p:txBody>
      </p:sp>
      <p:sp>
        <p:nvSpPr>
          <p:cNvPr id="116" name="Google Shape;116;p8"/>
          <p:cNvSpPr/>
          <p:nvPr/>
        </p:nvSpPr>
        <p:spPr>
          <a:xfrm>
            <a:off x="533400" y="1657350"/>
            <a:ext cx="11125200" cy="800100"/>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762000" y="1828800"/>
            <a:ext cx="1066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sasviya4 get deployments</a:t>
            </a:r>
            <a:endParaRPr/>
          </a:p>
        </p:txBody>
      </p:sp>
      <p:sp>
        <p:nvSpPr>
          <p:cNvPr id="118" name="Google Shape;118;p8"/>
          <p:cNvSpPr/>
          <p:nvPr/>
        </p:nvSpPr>
        <p:spPr>
          <a:xfrm>
            <a:off x="533400" y="2581275"/>
            <a:ext cx="11125200" cy="371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00">
                <a:solidFill>
                  <a:srgbClr val="53616B"/>
                </a:solidFill>
                <a:latin typeface="Helvetica Neue"/>
                <a:ea typeface="Helvetica Neue"/>
                <a:cs typeface="Helvetica Neue"/>
                <a:sym typeface="Helvetica Neue"/>
              </a:rPr>
              <a:t>Voorbeeld: herkenbare Viya-onderdelen</a:t>
            </a:r>
            <a:endParaRPr/>
          </a:p>
        </p:txBody>
      </p:sp>
      <p:graphicFrame>
        <p:nvGraphicFramePr>
          <p:cNvPr id="119" name="Google Shape;119;p8"/>
          <p:cNvGraphicFramePr/>
          <p:nvPr/>
        </p:nvGraphicFramePr>
        <p:xfrm>
          <a:off x="533400" y="3067050"/>
          <a:ext cx="3000000" cy="3000000"/>
        </p:xfrm>
        <a:graphic>
          <a:graphicData uri="http://schemas.openxmlformats.org/drawingml/2006/table">
            <a:tbl>
              <a:tblPr>
                <a:noFill/>
                <a:tableStyleId>{82F5776F-6AAD-4BCD-87A2-F7672675A759}</a:tableStyleId>
              </a:tblPr>
              <a:tblGrid>
                <a:gridCol w="4362450"/>
                <a:gridCol w="1666875"/>
                <a:gridCol w="2619375"/>
                <a:gridCol w="2476500"/>
              </a:tblGrid>
              <a:tr h="431800">
                <a:tc>
                  <a:txBody>
                    <a:bodyPr/>
                    <a:lstStyle/>
                    <a:p>
                      <a:pPr indent="0" lvl="0" marL="0" marR="0" rtl="0" algn="l">
                        <a:spcBef>
                          <a:spcPts val="0"/>
                        </a:spcBef>
                        <a:spcAft>
                          <a:spcPts val="0"/>
                        </a:spcAft>
                        <a:buClr>
                          <a:srgbClr val="FFFFFF"/>
                        </a:buClr>
                        <a:buSzPts val="1875"/>
                        <a:buFont typeface="Helvetica Neue"/>
                        <a:buNone/>
                      </a:pPr>
                      <a:r>
                        <a:rPr b="1" lang="en-US" sz="1875">
                          <a:solidFill>
                            <a:srgbClr val="FFFFFF"/>
                          </a:solidFill>
                          <a:latin typeface="Helvetica Neue"/>
                          <a:ea typeface="Helvetica Neue"/>
                          <a:cs typeface="Helvetica Neue"/>
                          <a:sym typeface="Helvetica Neue"/>
                        </a:rPr>
                        <a:t>NAME</a:t>
                      </a:r>
                      <a:endParaRPr/>
                    </a:p>
                  </a:txBody>
                  <a:tcPr marT="45725" marB="45725" marR="91450" marL="91450">
                    <a:solidFill>
                      <a:srgbClr val="12677E"/>
                    </a:solidFill>
                  </a:tcPr>
                </a:tc>
                <a:tc>
                  <a:txBody>
                    <a:bodyPr/>
                    <a:lstStyle/>
                    <a:p>
                      <a:pPr indent="0" lvl="0" marL="0" marR="0" rtl="0" algn="l">
                        <a:spcBef>
                          <a:spcPts val="0"/>
                        </a:spcBef>
                        <a:spcAft>
                          <a:spcPts val="0"/>
                        </a:spcAft>
                        <a:buClr>
                          <a:srgbClr val="FFFFFF"/>
                        </a:buClr>
                        <a:buSzPts val="1875"/>
                        <a:buFont typeface="Helvetica Neue"/>
                        <a:buNone/>
                      </a:pPr>
                      <a:r>
                        <a:rPr b="1" lang="en-US" sz="1875">
                          <a:solidFill>
                            <a:srgbClr val="FFFFFF"/>
                          </a:solidFill>
                          <a:latin typeface="Helvetica Neue"/>
                          <a:ea typeface="Helvetica Neue"/>
                          <a:cs typeface="Helvetica Neue"/>
                          <a:sym typeface="Helvetica Neue"/>
                        </a:rPr>
                        <a:t>READY</a:t>
                      </a:r>
                      <a:endParaRPr/>
                    </a:p>
                  </a:txBody>
                  <a:tcPr marT="45725" marB="45725" marR="91450" marL="91450">
                    <a:solidFill>
                      <a:srgbClr val="12677E"/>
                    </a:solidFill>
                  </a:tcPr>
                </a:tc>
                <a:tc>
                  <a:txBody>
                    <a:bodyPr/>
                    <a:lstStyle/>
                    <a:p>
                      <a:pPr indent="0" lvl="0" marL="0" marR="0" rtl="0" algn="l">
                        <a:spcBef>
                          <a:spcPts val="0"/>
                        </a:spcBef>
                        <a:spcAft>
                          <a:spcPts val="0"/>
                        </a:spcAft>
                        <a:buClr>
                          <a:srgbClr val="FFFFFF"/>
                        </a:buClr>
                        <a:buSzPts val="1875"/>
                        <a:buFont typeface="Helvetica Neue"/>
                        <a:buNone/>
                      </a:pPr>
                      <a:r>
                        <a:rPr b="1" lang="en-US" sz="1875">
                          <a:solidFill>
                            <a:srgbClr val="FFFFFF"/>
                          </a:solidFill>
                          <a:latin typeface="Helvetica Neue"/>
                          <a:ea typeface="Helvetica Neue"/>
                          <a:cs typeface="Helvetica Neue"/>
                          <a:sym typeface="Helvetica Neue"/>
                        </a:rPr>
                        <a:t>UP-TO-DATE</a:t>
                      </a:r>
                      <a:endParaRPr/>
                    </a:p>
                  </a:txBody>
                  <a:tcPr marT="45725" marB="45725" marR="91450" marL="91450">
                    <a:solidFill>
                      <a:srgbClr val="12677E"/>
                    </a:solidFill>
                  </a:tcPr>
                </a:tc>
                <a:tc>
                  <a:txBody>
                    <a:bodyPr/>
                    <a:lstStyle/>
                    <a:p>
                      <a:pPr indent="0" lvl="0" marL="0" marR="0" rtl="0" algn="l">
                        <a:spcBef>
                          <a:spcPts val="0"/>
                        </a:spcBef>
                        <a:spcAft>
                          <a:spcPts val="0"/>
                        </a:spcAft>
                        <a:buClr>
                          <a:srgbClr val="FFFFFF"/>
                        </a:buClr>
                        <a:buSzPts val="1875"/>
                        <a:buFont typeface="Helvetica Neue"/>
                        <a:buNone/>
                      </a:pPr>
                      <a:r>
                        <a:rPr b="1" lang="en-US" sz="1875">
                          <a:solidFill>
                            <a:srgbClr val="FFFFFF"/>
                          </a:solidFill>
                          <a:latin typeface="Helvetica Neue"/>
                          <a:ea typeface="Helvetica Neue"/>
                          <a:cs typeface="Helvetica Neue"/>
                          <a:sym typeface="Helvetica Neue"/>
                        </a:rPr>
                        <a:t>AVAILABLE</a:t>
                      </a:r>
                      <a:endParaRPr/>
                    </a:p>
                  </a:txBody>
                  <a:tcPr marT="45725" marB="45725" marR="91450" marL="91450">
                    <a:solidFill>
                      <a:srgbClr val="12677E"/>
                    </a:solidFill>
                  </a:tcPr>
                </a:tc>
              </a:tr>
              <a:tr h="431800">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sas-studio</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1/1</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1</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1</a:t>
                      </a:r>
                      <a:endParaRPr/>
                    </a:p>
                  </a:txBody>
                  <a:tcPr marT="45725" marB="45725" marR="91450" marL="91450">
                    <a:solidFill>
                      <a:srgbClr val="F0F5F7"/>
                    </a:solidFill>
                  </a:tcPr>
                </a:tc>
              </a:tr>
              <a:tr h="431800">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sas-visual-analytics</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1/1</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1</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875"/>
                        <a:buFont typeface="Helvetica Neue"/>
                        <a:buNone/>
                      </a:pPr>
                      <a:r>
                        <a:rPr b="0" lang="en-US" sz="1875">
                          <a:solidFill>
                            <a:srgbClr val="132F40"/>
                          </a:solidFill>
                          <a:latin typeface="Helvetica Neue"/>
                          <a:ea typeface="Helvetica Neue"/>
                          <a:cs typeface="Helvetica Neue"/>
                          <a:sym typeface="Helvetica Neue"/>
                        </a:rPr>
                        <a:t>1</a:t>
                      </a:r>
                      <a:endParaRPr/>
                    </a:p>
                  </a:txBody>
                  <a:tcPr marT="45725" marB="45725" marR="91450" marL="91450">
                    <a:solidFill>
                      <a:srgbClr val="F0F5F7"/>
                    </a:solidFill>
                  </a:tcPr>
                </a:tc>
              </a:tr>
            </a:tbl>
          </a:graphicData>
        </a:graphic>
      </p:graphicFrame>
      <p:sp>
        <p:nvSpPr>
          <p:cNvPr id="120" name="Google Shape;120;p8"/>
          <p:cNvSpPr/>
          <p:nvPr/>
        </p:nvSpPr>
        <p:spPr>
          <a:xfrm>
            <a:off x="533400" y="4505325"/>
            <a:ext cx="11125200" cy="638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950">
                <a:solidFill>
                  <a:srgbClr val="12677E"/>
                </a:solidFill>
                <a:latin typeface="Helvetica Neue"/>
                <a:ea typeface="Helvetica Neue"/>
                <a:cs typeface="Helvetica Neue"/>
                <a:sym typeface="Helvetica Neue"/>
              </a:rPr>
              <a:t>Deployments beheren Pods  ·  READY 1/1 = één Ready van één gewenste Pod</a:t>
            </a:r>
            <a:endParaRPr/>
          </a:p>
        </p:txBody>
      </p:sp>
      <p:sp>
        <p:nvSpPr>
          <p:cNvPr id="121" name="Google Shape;121;p8"/>
          <p:cNvSpPr/>
          <p:nvPr/>
        </p:nvSpPr>
        <p:spPr>
          <a:xfrm>
            <a:off x="533400" y="5305425"/>
            <a:ext cx="11125200" cy="723900"/>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762000" y="5476875"/>
            <a:ext cx="106680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sasviya4 get pods -o wide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5"/>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Van SAS 9 naar SAS Viya: wat verandert er?</a:t>
            </a:r>
            <a:endParaRPr/>
          </a:p>
        </p:txBody>
      </p:sp>
      <p:sp>
        <p:nvSpPr>
          <p:cNvPr id="129" name="Google Shape;129;p5"/>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130" name="Google Shape;130;p5"/>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06</a:t>
            </a:r>
            <a:endParaRPr/>
          </a:p>
        </p:txBody>
      </p:sp>
      <p:sp>
        <p:nvSpPr>
          <p:cNvPr id="131" name="Google Shape;131;p5"/>
          <p:cNvSpPr/>
          <p:nvPr/>
        </p:nvSpPr>
        <p:spPr>
          <a:xfrm>
            <a:off x="533400" y="1562100"/>
            <a:ext cx="11125200" cy="4095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Kernwoorden om te onthouden en later terug te lezen</a:t>
            </a:r>
            <a:endParaRPr/>
          </a:p>
        </p:txBody>
      </p:sp>
      <p:graphicFrame>
        <p:nvGraphicFramePr>
          <p:cNvPr id="132" name="Google Shape;132;p5"/>
          <p:cNvGraphicFramePr/>
          <p:nvPr/>
        </p:nvGraphicFramePr>
        <p:xfrm>
          <a:off x="533400" y="2190750"/>
          <a:ext cx="3000000" cy="3000000"/>
        </p:xfrm>
        <a:graphic>
          <a:graphicData uri="http://schemas.openxmlformats.org/drawingml/2006/table">
            <a:tbl>
              <a:tblPr>
                <a:noFill/>
                <a:tableStyleId>{82F5776F-6AAD-4BCD-87A2-F7672675A759}</a:tableStyleId>
              </a:tblPr>
              <a:tblGrid>
                <a:gridCol w="2358500"/>
                <a:gridCol w="4013725"/>
                <a:gridCol w="4752975"/>
              </a:tblGrid>
              <a:tr h="549275">
                <a:tc>
                  <a:txBody>
                    <a:bodyPr/>
                    <a:lstStyle/>
                    <a:p>
                      <a:pPr indent="0" lvl="0" marL="0" marR="0" rtl="0" algn="l">
                        <a:spcBef>
                          <a:spcPts val="0"/>
                        </a:spcBef>
                        <a:spcAft>
                          <a:spcPts val="0"/>
                        </a:spcAft>
                        <a:buClr>
                          <a:srgbClr val="FFFFFF"/>
                        </a:buClr>
                        <a:buSzPts val="1725"/>
                        <a:buFont typeface="Helvetica Neue"/>
                        <a:buNone/>
                      </a:pPr>
                      <a:r>
                        <a:rPr b="1" lang="en-US" sz="1725" u="none" cap="none" strike="noStrike">
                          <a:solidFill>
                            <a:srgbClr val="FFFFFF"/>
                          </a:solidFill>
                          <a:latin typeface="Helvetica Neue"/>
                          <a:ea typeface="Helvetica Neue"/>
                          <a:cs typeface="Helvetica Neue"/>
                          <a:sym typeface="Helvetica Neue"/>
                        </a:rPr>
                        <a:t>Onderdeel</a:t>
                      </a:r>
                      <a:endParaRPr/>
                    </a:p>
                  </a:txBody>
                  <a:tcPr marT="45725" marB="45725" marR="91450" marL="91450">
                    <a:solidFill>
                      <a:srgbClr val="12677E"/>
                    </a:solidFill>
                  </a:tcPr>
                </a:tc>
                <a:tc>
                  <a:txBody>
                    <a:bodyPr/>
                    <a:lstStyle/>
                    <a:p>
                      <a:pPr indent="0" lvl="0" marL="0" marR="0" rtl="0" algn="l">
                        <a:spcBef>
                          <a:spcPts val="0"/>
                        </a:spcBef>
                        <a:spcAft>
                          <a:spcPts val="0"/>
                        </a:spcAft>
                        <a:buClr>
                          <a:srgbClr val="FFFFFF"/>
                        </a:buClr>
                        <a:buSzPts val="1725"/>
                        <a:buFont typeface="Helvetica Neue"/>
                        <a:buNone/>
                      </a:pPr>
                      <a:r>
                        <a:rPr b="1" lang="en-US" sz="1725">
                          <a:solidFill>
                            <a:srgbClr val="FFFFFF"/>
                          </a:solidFill>
                          <a:latin typeface="Helvetica Neue"/>
                          <a:ea typeface="Helvetica Neue"/>
                          <a:cs typeface="Helvetica Neue"/>
                          <a:sym typeface="Helvetica Neue"/>
                        </a:rPr>
                        <a:t>SAS 9.4</a:t>
                      </a:r>
                      <a:endParaRPr/>
                    </a:p>
                  </a:txBody>
                  <a:tcPr marT="45725" marB="45725" marR="91450" marL="91450">
                    <a:solidFill>
                      <a:srgbClr val="12677E"/>
                    </a:solidFill>
                  </a:tcPr>
                </a:tc>
                <a:tc>
                  <a:txBody>
                    <a:bodyPr/>
                    <a:lstStyle/>
                    <a:p>
                      <a:pPr indent="0" lvl="0" marL="0" marR="0" rtl="0" algn="l">
                        <a:spcBef>
                          <a:spcPts val="0"/>
                        </a:spcBef>
                        <a:spcAft>
                          <a:spcPts val="0"/>
                        </a:spcAft>
                        <a:buClr>
                          <a:srgbClr val="FFFFFF"/>
                        </a:buClr>
                        <a:buSzPts val="1725"/>
                        <a:buFont typeface="Helvetica Neue"/>
                        <a:buNone/>
                      </a:pPr>
                      <a:r>
                        <a:rPr b="1" lang="en-US" sz="1725">
                          <a:solidFill>
                            <a:srgbClr val="FFFFFF"/>
                          </a:solidFill>
                          <a:latin typeface="Helvetica Neue"/>
                          <a:ea typeface="Helvetica Neue"/>
                          <a:cs typeface="Helvetica Neue"/>
                          <a:sym typeface="Helvetica Neue"/>
                        </a:rPr>
                        <a:t>SAS Viya</a:t>
                      </a:r>
                      <a:endParaRPr/>
                    </a:p>
                  </a:txBody>
                  <a:tcPr marT="45725" marB="45725" marR="91450" marL="91450">
                    <a:solidFill>
                      <a:srgbClr val="12677E"/>
                    </a:solidFill>
                  </a:tcPr>
                </a:tc>
              </a:tr>
              <a:tr h="549275">
                <a:tc>
                  <a:txBody>
                    <a:bodyPr/>
                    <a:lstStyle/>
                    <a:p>
                      <a:pPr indent="0" lvl="0" marL="0" marR="0" rtl="0" algn="l">
                        <a:spcBef>
                          <a:spcPts val="0"/>
                        </a:spcBef>
                        <a:spcAft>
                          <a:spcPts val="0"/>
                        </a:spcAft>
                        <a:buClr>
                          <a:srgbClr val="132F40"/>
                        </a:buClr>
                        <a:buSzPts val="1725"/>
                        <a:buFont typeface="Helvetica Neue"/>
                        <a:buNone/>
                      </a:pPr>
                      <a:r>
                        <a:rPr b="1" lang="en-US" sz="1725">
                          <a:solidFill>
                            <a:srgbClr val="132F40"/>
                          </a:solidFill>
                          <a:latin typeface="Helvetica Neue"/>
                          <a:ea typeface="Helvetica Neue"/>
                          <a:cs typeface="Helvetica Neue"/>
                          <a:sym typeface="Helvetica Neue"/>
                        </a:rPr>
                        <a:t>Server-architectuur</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725"/>
                        <a:buFont typeface="Helvetica Neue"/>
                        <a:buNone/>
                      </a:pPr>
                      <a:r>
                        <a:rPr lang="en-US" sz="1725">
                          <a:solidFill>
                            <a:srgbClr val="132F40"/>
                          </a:solidFill>
                          <a:latin typeface="Helvetica Neue"/>
                          <a:ea typeface="Helvetica Neue"/>
                          <a:cs typeface="Helvetica Neue"/>
                          <a:sym typeface="Helvetica Neue"/>
                        </a:rPr>
                        <a:t>Monolithisch (OS-gebaseerd: Linux/Windows)</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725"/>
                        <a:buFont typeface="Helvetica Neue"/>
                        <a:buNone/>
                      </a:pPr>
                      <a:r>
                        <a:rPr lang="en-US" sz="1725">
                          <a:solidFill>
                            <a:srgbClr val="132F40"/>
                          </a:solidFill>
                          <a:latin typeface="Helvetica Neue"/>
                          <a:ea typeface="Helvetica Neue"/>
                          <a:cs typeface="Helvetica Neue"/>
                          <a:sym typeface="Helvetica Neue"/>
                        </a:rPr>
                        <a:t>Cloud-native microservices (Kubernetes)</a:t>
                      </a:r>
                      <a:endParaRPr/>
                    </a:p>
                  </a:txBody>
                  <a:tcPr marT="45725" marB="45725" marR="91450" marL="91450">
                    <a:solidFill>
                      <a:srgbClr val="F0F5F7"/>
                    </a:solidFill>
                  </a:tcPr>
                </a:tc>
              </a:tr>
              <a:tr h="549275">
                <a:tc>
                  <a:txBody>
                    <a:bodyPr/>
                    <a:lstStyle/>
                    <a:p>
                      <a:pPr indent="0" lvl="0" marL="0" marR="0" rtl="0" algn="l">
                        <a:spcBef>
                          <a:spcPts val="0"/>
                        </a:spcBef>
                        <a:spcAft>
                          <a:spcPts val="0"/>
                        </a:spcAft>
                        <a:buClr>
                          <a:srgbClr val="132F40"/>
                        </a:buClr>
                        <a:buSzPts val="1725"/>
                        <a:buFont typeface="Helvetica Neue"/>
                        <a:buNone/>
                      </a:pPr>
                      <a:r>
                        <a:rPr b="1" lang="en-US" sz="1725">
                          <a:solidFill>
                            <a:srgbClr val="132F40"/>
                          </a:solidFill>
                          <a:latin typeface="Helvetica Neue"/>
                          <a:ea typeface="Helvetica Neue"/>
                          <a:cs typeface="Helvetica Neue"/>
                          <a:sym typeface="Helvetica Neue"/>
                        </a:rPr>
                        <a:t>Opbouw</a:t>
                      </a:r>
                      <a:endParaRPr/>
                    </a:p>
                  </a:txBody>
                  <a:tcPr marT="45725" marB="45725" marR="91450" marL="91450">
                    <a:solidFill>
                      <a:srgbClr val="F8FAFB"/>
                    </a:solidFill>
                  </a:tcPr>
                </a:tc>
                <a:tc>
                  <a:txBody>
                    <a:bodyPr/>
                    <a:lstStyle/>
                    <a:p>
                      <a:pPr indent="0" lvl="0" marL="0" marR="0" rtl="0" algn="l">
                        <a:spcBef>
                          <a:spcPts val="0"/>
                        </a:spcBef>
                        <a:spcAft>
                          <a:spcPts val="0"/>
                        </a:spcAft>
                        <a:buClr>
                          <a:srgbClr val="132F40"/>
                        </a:buClr>
                        <a:buSzPts val="1725"/>
                        <a:buFont typeface="Helvetica Neue"/>
                        <a:buNone/>
                      </a:pPr>
                      <a:r>
                        <a:rPr b="0" lang="en-US" sz="1725">
                          <a:solidFill>
                            <a:srgbClr val="132F40"/>
                          </a:solidFill>
                          <a:latin typeface="Helvetica Neue"/>
                          <a:ea typeface="Helvetica Neue"/>
                          <a:cs typeface="Helvetica Neue"/>
                          <a:sym typeface="Helvetica Neue"/>
                        </a:rPr>
                        <a:t>Samenhangende lagen en servers</a:t>
                      </a:r>
                      <a:endParaRPr/>
                    </a:p>
                  </a:txBody>
                  <a:tcPr marT="45725" marB="45725" marR="91450" marL="91450">
                    <a:solidFill>
                      <a:srgbClr val="F8FAFB"/>
                    </a:solidFill>
                  </a:tcPr>
                </a:tc>
                <a:tc>
                  <a:txBody>
                    <a:bodyPr/>
                    <a:lstStyle/>
                    <a:p>
                      <a:pPr indent="0" lvl="0" marL="0" marR="0" rtl="0" algn="l">
                        <a:spcBef>
                          <a:spcPts val="0"/>
                        </a:spcBef>
                        <a:spcAft>
                          <a:spcPts val="0"/>
                        </a:spcAft>
                        <a:buClr>
                          <a:srgbClr val="132F40"/>
                        </a:buClr>
                        <a:buSzPts val="1725"/>
                        <a:buFont typeface="Helvetica Neue"/>
                        <a:buNone/>
                      </a:pPr>
                      <a:r>
                        <a:rPr b="0" lang="en-US" sz="1725">
                          <a:solidFill>
                            <a:srgbClr val="132F40"/>
                          </a:solidFill>
                          <a:latin typeface="Helvetica Neue"/>
                          <a:ea typeface="Helvetica Neue"/>
                          <a:cs typeface="Helvetica Neue"/>
                          <a:sym typeface="Helvetica Neue"/>
                        </a:rPr>
                        <a:t>Samenwerkende microservices</a:t>
                      </a:r>
                      <a:endParaRPr/>
                    </a:p>
                  </a:txBody>
                  <a:tcPr marT="45725" marB="45725" marR="91450" marL="91450">
                    <a:solidFill>
                      <a:srgbClr val="F8FAFB"/>
                    </a:solidFill>
                  </a:tcPr>
                </a:tc>
              </a:tr>
              <a:tr h="549275">
                <a:tc>
                  <a:txBody>
                    <a:bodyPr/>
                    <a:lstStyle/>
                    <a:p>
                      <a:pPr indent="0" lvl="0" marL="0" marR="0" rtl="0" algn="l">
                        <a:spcBef>
                          <a:spcPts val="0"/>
                        </a:spcBef>
                        <a:spcAft>
                          <a:spcPts val="0"/>
                        </a:spcAft>
                        <a:buClr>
                          <a:srgbClr val="132F40"/>
                        </a:buClr>
                        <a:buSzPts val="1725"/>
                        <a:buFont typeface="Helvetica Neue"/>
                        <a:buNone/>
                      </a:pPr>
                      <a:r>
                        <a:rPr b="1" lang="en-US" sz="1725">
                          <a:solidFill>
                            <a:srgbClr val="132F40"/>
                          </a:solidFill>
                          <a:latin typeface="Helvetica Neue"/>
                          <a:ea typeface="Helvetica Neue"/>
                          <a:cs typeface="Helvetica Neue"/>
                          <a:sym typeface="Helvetica Neue"/>
                        </a:rPr>
                        <a:t>Metadata</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725"/>
                        <a:buFont typeface="Helvetica Neue"/>
                        <a:buNone/>
                      </a:pPr>
                      <a:r>
                        <a:rPr b="0" lang="en-US" sz="1725">
                          <a:solidFill>
                            <a:srgbClr val="132F40"/>
                          </a:solidFill>
                          <a:latin typeface="Helvetica Neue"/>
                          <a:ea typeface="Helvetica Neue"/>
                          <a:cs typeface="Helvetica Neue"/>
                          <a:sym typeface="Helvetica Neue"/>
                        </a:rPr>
                        <a:t>Centrale SAS Metadata Server</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725"/>
                        <a:buFont typeface="Helvetica Neue"/>
                        <a:buNone/>
                      </a:pPr>
                      <a:r>
                        <a:rPr b="0" lang="en-US" sz="1725">
                          <a:solidFill>
                            <a:srgbClr val="132F40"/>
                          </a:solidFill>
                          <a:latin typeface="Helvetica Neue"/>
                          <a:ea typeface="Helvetica Neue"/>
                          <a:cs typeface="Helvetica Neue"/>
                          <a:sym typeface="Helvetica Neue"/>
                        </a:rPr>
                        <a:t>Taken verdeeld over services</a:t>
                      </a:r>
                      <a:endParaRPr/>
                    </a:p>
                  </a:txBody>
                  <a:tcPr marT="45725" marB="45725" marR="91450" marL="91450">
                    <a:solidFill>
                      <a:srgbClr val="F0F5F7"/>
                    </a:solidFill>
                  </a:tcPr>
                </a:tc>
              </a:tr>
              <a:tr h="549275">
                <a:tc>
                  <a:txBody>
                    <a:bodyPr/>
                    <a:lstStyle/>
                    <a:p>
                      <a:pPr indent="0" lvl="0" marL="0" marR="0" rtl="0" algn="l">
                        <a:spcBef>
                          <a:spcPts val="0"/>
                        </a:spcBef>
                        <a:spcAft>
                          <a:spcPts val="0"/>
                        </a:spcAft>
                        <a:buClr>
                          <a:srgbClr val="132F40"/>
                        </a:buClr>
                        <a:buSzPts val="1725"/>
                        <a:buFont typeface="Helvetica Neue"/>
                        <a:buNone/>
                      </a:pPr>
                      <a:r>
                        <a:rPr b="1" lang="en-US" sz="1725">
                          <a:solidFill>
                            <a:srgbClr val="132F40"/>
                          </a:solidFill>
                          <a:latin typeface="Helvetica Neue"/>
                          <a:ea typeface="Helvetica Neue"/>
                          <a:cs typeface="Helvetica Neue"/>
                          <a:sym typeface="Helvetica Neue"/>
                        </a:rPr>
                        <a:t>Rekenwerk</a:t>
                      </a:r>
                      <a:endParaRPr/>
                    </a:p>
                  </a:txBody>
                  <a:tcPr marT="45725" marB="45725" marR="91450" marL="91450">
                    <a:solidFill>
                      <a:srgbClr val="F8FAFB"/>
                    </a:solidFill>
                  </a:tcPr>
                </a:tc>
                <a:tc>
                  <a:txBody>
                    <a:bodyPr/>
                    <a:lstStyle/>
                    <a:p>
                      <a:pPr indent="0" lvl="0" marL="0" marR="0" rtl="0" algn="l">
                        <a:spcBef>
                          <a:spcPts val="0"/>
                        </a:spcBef>
                        <a:spcAft>
                          <a:spcPts val="0"/>
                        </a:spcAft>
                        <a:buClr>
                          <a:srgbClr val="132F40"/>
                        </a:buClr>
                        <a:buSzPts val="1725"/>
                        <a:buFont typeface="Helvetica Neue"/>
                        <a:buNone/>
                      </a:pPr>
                      <a:r>
                        <a:rPr b="0" lang="en-US" sz="1725">
                          <a:solidFill>
                            <a:srgbClr val="132F40"/>
                          </a:solidFill>
                          <a:latin typeface="Helvetica Neue"/>
                          <a:ea typeface="Helvetica Neue"/>
                          <a:cs typeface="Helvetica Neue"/>
                          <a:sym typeface="Helvetica Neue"/>
                        </a:rPr>
                        <a:t>O.a. Workspace en batch</a:t>
                      </a:r>
                      <a:endParaRPr/>
                    </a:p>
                  </a:txBody>
                  <a:tcPr marT="45725" marB="45725" marR="91450" marL="91450">
                    <a:solidFill>
                      <a:srgbClr val="F8FAFB"/>
                    </a:solidFill>
                  </a:tcPr>
                </a:tc>
                <a:tc>
                  <a:txBody>
                    <a:bodyPr/>
                    <a:lstStyle/>
                    <a:p>
                      <a:pPr indent="0" lvl="0" marL="0" marR="0" rtl="0" algn="l">
                        <a:spcBef>
                          <a:spcPts val="0"/>
                        </a:spcBef>
                        <a:spcAft>
                          <a:spcPts val="0"/>
                        </a:spcAft>
                        <a:buClr>
                          <a:srgbClr val="132F40"/>
                        </a:buClr>
                        <a:buSzPts val="1725"/>
                        <a:buFont typeface="Helvetica Neue"/>
                        <a:buNone/>
                      </a:pPr>
                      <a:r>
                        <a:rPr b="0" lang="en-US" sz="1725">
                          <a:solidFill>
                            <a:srgbClr val="132F40"/>
                          </a:solidFill>
                          <a:latin typeface="Helvetica Neue"/>
                          <a:ea typeface="Helvetica Neue"/>
                          <a:cs typeface="Helvetica Neue"/>
                          <a:sym typeface="Helvetica Neue"/>
                        </a:rPr>
                        <a:t>Compute en CAS</a:t>
                      </a:r>
                      <a:endParaRPr/>
                    </a:p>
                  </a:txBody>
                  <a:tcPr marT="45725" marB="45725" marR="91450" marL="91450">
                    <a:solidFill>
                      <a:srgbClr val="F8FAFB"/>
                    </a:solidFill>
                  </a:tcPr>
                </a:tc>
              </a:tr>
              <a:tr h="549275">
                <a:tc>
                  <a:txBody>
                    <a:bodyPr/>
                    <a:lstStyle/>
                    <a:p>
                      <a:pPr indent="0" lvl="0" marL="0" marR="0" rtl="0" algn="l">
                        <a:spcBef>
                          <a:spcPts val="0"/>
                        </a:spcBef>
                        <a:spcAft>
                          <a:spcPts val="0"/>
                        </a:spcAft>
                        <a:buClr>
                          <a:srgbClr val="132F40"/>
                        </a:buClr>
                        <a:buSzPts val="1725"/>
                        <a:buFont typeface="Helvetica Neue"/>
                        <a:buNone/>
                      </a:pPr>
                      <a:r>
                        <a:rPr b="1" lang="en-US" sz="1725">
                          <a:solidFill>
                            <a:srgbClr val="132F40"/>
                          </a:solidFill>
                          <a:latin typeface="Helvetica Neue"/>
                          <a:ea typeface="Helvetica Neue"/>
                          <a:cs typeface="Helvetica Neue"/>
                          <a:sym typeface="Helvetica Neue"/>
                        </a:rPr>
                        <a:t>Gebruikersomgeving</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725"/>
                        <a:buFont typeface="Helvetica Neue"/>
                        <a:buNone/>
                      </a:pPr>
                      <a:r>
                        <a:rPr lang="en-US" sz="1725">
                          <a:solidFill>
                            <a:srgbClr val="132F40"/>
                          </a:solidFill>
                          <a:latin typeface="Helvetica Neue"/>
                          <a:ea typeface="Helvetica Neue"/>
                          <a:cs typeface="Helvetica Neue"/>
                          <a:sym typeface="Helvetica Neue"/>
                        </a:rPr>
                        <a:t>Desktop apps (Enterprise Guide)</a:t>
                      </a:r>
                      <a:endParaRPr/>
                    </a:p>
                  </a:txBody>
                  <a:tcPr marT="45725" marB="45725" marR="91450" marL="91450">
                    <a:solidFill>
                      <a:srgbClr val="F0F5F7"/>
                    </a:solidFill>
                  </a:tcPr>
                </a:tc>
                <a:tc>
                  <a:txBody>
                    <a:bodyPr/>
                    <a:lstStyle/>
                    <a:p>
                      <a:pPr indent="0" lvl="0" marL="0" marR="0" rtl="0" algn="l">
                        <a:spcBef>
                          <a:spcPts val="0"/>
                        </a:spcBef>
                        <a:spcAft>
                          <a:spcPts val="0"/>
                        </a:spcAft>
                        <a:buClr>
                          <a:srgbClr val="132F40"/>
                        </a:buClr>
                        <a:buSzPts val="1725"/>
                        <a:buFont typeface="Helvetica Neue"/>
                        <a:buNone/>
                      </a:pPr>
                      <a:r>
                        <a:rPr lang="en-US" sz="1725">
                          <a:solidFill>
                            <a:srgbClr val="132F40"/>
                          </a:solidFill>
                          <a:latin typeface="Helvetica Neue"/>
                          <a:ea typeface="Helvetica Neue"/>
                          <a:cs typeface="Helvetica Neue"/>
                          <a:sym typeface="Helvetica Neue"/>
                        </a:rPr>
                        <a:t>Volledig web-gebaseerd (SAS Studio via de browser)</a:t>
                      </a:r>
                      <a:endParaRPr/>
                    </a:p>
                  </a:txBody>
                  <a:tcPr marT="45725" marB="45725" marR="91450" marL="91450">
                    <a:solidFill>
                      <a:srgbClr val="F0F5F7"/>
                    </a:solidFill>
                  </a:tcPr>
                </a:tc>
              </a:tr>
            </a:tbl>
          </a:graphicData>
        </a:graphic>
      </p:graphicFrame>
      <p:sp>
        <p:nvSpPr>
          <p:cNvPr id="133" name="Google Shape;133;p5"/>
          <p:cNvSpPr/>
          <p:nvPr/>
        </p:nvSpPr>
        <p:spPr>
          <a:xfrm>
            <a:off x="533400" y="5676900"/>
            <a:ext cx="1112520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00">
                <a:solidFill>
                  <a:srgbClr val="53616B"/>
                </a:solidFill>
                <a:latin typeface="Helvetica Neue"/>
                <a:ea typeface="Helvetica Neue"/>
                <a:cs typeface="Helvetica Neue"/>
                <a:sym typeface="Helvetica Neue"/>
              </a:rPr>
              <a:t>Metadata blijft bestaan. Namen van componenten zijn geen één-op-één migratieplan.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6"/>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Waarom maakt deze opbouw van SAS Viya verschil?</a:t>
            </a:r>
            <a:endParaRPr/>
          </a:p>
        </p:txBody>
      </p:sp>
      <p:sp>
        <p:nvSpPr>
          <p:cNvPr id="140" name="Google Shape;140;p6"/>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141" name="Google Shape;141;p6"/>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07</a:t>
            </a:r>
            <a:endParaRPr/>
          </a:p>
        </p:txBody>
      </p:sp>
      <p:sp>
        <p:nvSpPr>
          <p:cNvPr id="142" name="Google Shape;142;p6"/>
          <p:cNvSpPr/>
          <p:nvPr/>
        </p:nvSpPr>
        <p:spPr>
          <a:xfrm>
            <a:off x="533400" y="1571625"/>
            <a:ext cx="5048250" cy="400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75">
                <a:solidFill>
                  <a:srgbClr val="12677E"/>
                </a:solidFill>
                <a:latin typeface="Helvetica Neue"/>
                <a:ea typeface="Helvetica Neue"/>
                <a:cs typeface="Helvetica Neue"/>
                <a:sym typeface="Helvetica Neue"/>
              </a:rPr>
              <a:t>Architectuurkeuze</a:t>
            </a:r>
            <a:endParaRPr/>
          </a:p>
        </p:txBody>
      </p:sp>
      <p:sp>
        <p:nvSpPr>
          <p:cNvPr id="143" name="Google Shape;143;p6"/>
          <p:cNvSpPr/>
          <p:nvPr/>
        </p:nvSpPr>
        <p:spPr>
          <a:xfrm>
            <a:off x="6534150" y="1571625"/>
            <a:ext cx="5124450" cy="400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75">
                <a:solidFill>
                  <a:srgbClr val="12677E"/>
                </a:solidFill>
                <a:latin typeface="Helvetica Neue"/>
                <a:ea typeface="Helvetica Neue"/>
                <a:cs typeface="Helvetica Neue"/>
                <a:sym typeface="Helvetica Neue"/>
              </a:rPr>
              <a:t>Wat dit mogelijk maakt</a:t>
            </a:r>
            <a:endParaRPr/>
          </a:p>
        </p:txBody>
      </p:sp>
      <p:sp>
        <p:nvSpPr>
          <p:cNvPr id="144" name="Google Shape;144;p6"/>
          <p:cNvSpPr/>
          <p:nvPr/>
        </p:nvSpPr>
        <p:spPr>
          <a:xfrm>
            <a:off x="533400" y="2200275"/>
            <a:ext cx="49911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32F40"/>
                </a:solidFill>
                <a:latin typeface="Helvetica Neue"/>
                <a:ea typeface="Helvetica Neue"/>
                <a:cs typeface="Helvetica Neue"/>
                <a:sym typeface="Helvetica Neue"/>
              </a:rPr>
              <a:t>Afzonderlijke services</a:t>
            </a:r>
            <a:endParaRPr/>
          </a:p>
        </p:txBody>
      </p:sp>
      <p:sp>
        <p:nvSpPr>
          <p:cNvPr id="145" name="Google Shape;145;p6"/>
          <p:cNvSpPr/>
          <p:nvPr/>
        </p:nvSpPr>
        <p:spPr>
          <a:xfrm>
            <a:off x="5705475" y="2352675"/>
            <a:ext cx="47625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6534150" y="2200275"/>
            <a:ext cx="5124450"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237A56"/>
                </a:solidFill>
                <a:latin typeface="Helvetica Neue"/>
                <a:ea typeface="Helvetica Neue"/>
                <a:cs typeface="Helvetica Neue"/>
                <a:sym typeface="Helvetica Neue"/>
              </a:rPr>
              <a:t>Gerichter beheren</a:t>
            </a:r>
            <a:endParaRPr/>
          </a:p>
        </p:txBody>
      </p:sp>
      <p:sp>
        <p:nvSpPr>
          <p:cNvPr id="147" name="Google Shape;147;p6"/>
          <p:cNvSpPr/>
          <p:nvPr/>
        </p:nvSpPr>
        <p:spPr>
          <a:xfrm>
            <a:off x="6534150" y="2647950"/>
            <a:ext cx="512445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132F40"/>
                </a:solidFill>
                <a:latin typeface="Helvetica Neue"/>
                <a:ea typeface="Helvetica Neue"/>
                <a:cs typeface="Helvetica Neue"/>
                <a:sym typeface="Helvetica Neue"/>
              </a:rPr>
              <a:t>Een onderdeel onderzoeken of aanpassen.</a:t>
            </a:r>
            <a:endParaRPr/>
          </a:p>
        </p:txBody>
      </p:sp>
      <p:sp>
        <p:nvSpPr>
          <p:cNvPr id="148" name="Google Shape;148;p6"/>
          <p:cNvSpPr/>
          <p:nvPr/>
        </p:nvSpPr>
        <p:spPr>
          <a:xfrm>
            <a:off x="533400" y="3143250"/>
            <a:ext cx="11125200" cy="9525"/>
          </a:xfrm>
          <a:prstGeom prst="rect">
            <a:avLst/>
          </a:prstGeom>
          <a:solidFill>
            <a:srgbClr val="DDE2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533400" y="3257550"/>
            <a:ext cx="49911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32F40"/>
                </a:solidFill>
                <a:latin typeface="Helvetica Neue"/>
                <a:ea typeface="Helvetica Neue"/>
                <a:cs typeface="Helvetica Neue"/>
                <a:sym typeface="Helvetica Neue"/>
              </a:rPr>
              <a:t>Schaalbare services</a:t>
            </a:r>
            <a:endParaRPr/>
          </a:p>
        </p:txBody>
      </p:sp>
      <p:sp>
        <p:nvSpPr>
          <p:cNvPr id="150" name="Google Shape;150;p6"/>
          <p:cNvSpPr/>
          <p:nvPr/>
        </p:nvSpPr>
        <p:spPr>
          <a:xfrm>
            <a:off x="5705475" y="3409950"/>
            <a:ext cx="47625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6534150" y="3257550"/>
            <a:ext cx="5124450"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237A56"/>
                </a:solidFill>
                <a:latin typeface="Helvetica Neue"/>
                <a:ea typeface="Helvetica Neue"/>
                <a:cs typeface="Helvetica Neue"/>
                <a:sym typeface="Helvetica Neue"/>
              </a:rPr>
              <a:t>Gericht schalen</a:t>
            </a:r>
            <a:endParaRPr/>
          </a:p>
        </p:txBody>
      </p:sp>
      <p:sp>
        <p:nvSpPr>
          <p:cNvPr id="152" name="Google Shape;152;p6"/>
          <p:cNvSpPr/>
          <p:nvPr/>
        </p:nvSpPr>
        <p:spPr>
          <a:xfrm>
            <a:off x="6534150" y="3705225"/>
            <a:ext cx="512445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132F40"/>
                </a:solidFill>
                <a:latin typeface="Helvetica Neue"/>
                <a:ea typeface="Helvetica Neue"/>
                <a:cs typeface="Helvetica Neue"/>
                <a:sym typeface="Helvetica Neue"/>
              </a:rPr>
              <a:t>Extra exemplaren bij meer belasting.</a:t>
            </a:r>
            <a:endParaRPr/>
          </a:p>
        </p:txBody>
      </p:sp>
      <p:sp>
        <p:nvSpPr>
          <p:cNvPr id="153" name="Google Shape;153;p6"/>
          <p:cNvSpPr/>
          <p:nvPr/>
        </p:nvSpPr>
        <p:spPr>
          <a:xfrm>
            <a:off x="533400" y="4200525"/>
            <a:ext cx="11125200" cy="9525"/>
          </a:xfrm>
          <a:prstGeom prst="rect">
            <a:avLst/>
          </a:prstGeom>
          <a:solidFill>
            <a:srgbClr val="DDE2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533400" y="4314825"/>
            <a:ext cx="49911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32F40"/>
                </a:solidFill>
                <a:latin typeface="Helvetica Neue"/>
                <a:ea typeface="Helvetica Neue"/>
                <a:cs typeface="Helvetica Neue"/>
                <a:sym typeface="Helvetica Neue"/>
              </a:rPr>
              <a:t>Gewenste toestand</a:t>
            </a:r>
            <a:endParaRPr/>
          </a:p>
        </p:txBody>
      </p:sp>
      <p:sp>
        <p:nvSpPr>
          <p:cNvPr id="155" name="Google Shape;155;p6"/>
          <p:cNvSpPr/>
          <p:nvPr/>
        </p:nvSpPr>
        <p:spPr>
          <a:xfrm>
            <a:off x="5705475" y="4467225"/>
            <a:ext cx="47625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6534150" y="4314825"/>
            <a:ext cx="5124450"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237A56"/>
                </a:solidFill>
                <a:latin typeface="Helvetica Neue"/>
                <a:ea typeface="Helvetica Neue"/>
                <a:cs typeface="Helvetica Neue"/>
                <a:sym typeface="Helvetica Neue"/>
              </a:rPr>
              <a:t>Automatisch herstel</a:t>
            </a:r>
            <a:endParaRPr/>
          </a:p>
        </p:txBody>
      </p:sp>
      <p:sp>
        <p:nvSpPr>
          <p:cNvPr id="157" name="Google Shape;157;p6"/>
          <p:cNvSpPr/>
          <p:nvPr/>
        </p:nvSpPr>
        <p:spPr>
          <a:xfrm>
            <a:off x="6534150" y="4762500"/>
            <a:ext cx="512445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132F40"/>
                </a:solidFill>
                <a:latin typeface="Helvetica Neue"/>
                <a:ea typeface="Helvetica Neue"/>
                <a:cs typeface="Helvetica Neue"/>
                <a:sym typeface="Helvetica Neue"/>
              </a:rPr>
              <a:t>Een verdwenen beheerde Pod vervangen.</a:t>
            </a:r>
            <a:endParaRPr/>
          </a:p>
        </p:txBody>
      </p:sp>
      <p:sp>
        <p:nvSpPr>
          <p:cNvPr id="158" name="Google Shape;158;p6"/>
          <p:cNvSpPr/>
          <p:nvPr/>
        </p:nvSpPr>
        <p:spPr>
          <a:xfrm>
            <a:off x="533400" y="5381625"/>
            <a:ext cx="11125200" cy="9525"/>
          </a:xfrm>
          <a:prstGeom prst="rect">
            <a:avLst/>
          </a:prstGeom>
          <a:solidFill>
            <a:srgbClr val="DDE2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533400" y="5543550"/>
            <a:ext cx="5048250" cy="400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025">
                <a:solidFill>
                  <a:srgbClr val="12677E"/>
                </a:solidFill>
                <a:latin typeface="Helvetica Neue"/>
                <a:ea typeface="Helvetica Neue"/>
                <a:cs typeface="Helvetica Neue"/>
                <a:sym typeface="Helvetica Neue"/>
              </a:rPr>
              <a:t>Regelmatige SAS-releases</a:t>
            </a:r>
            <a:endParaRPr/>
          </a:p>
        </p:txBody>
      </p:sp>
      <p:sp>
        <p:nvSpPr>
          <p:cNvPr id="160" name="Google Shape;160;p6"/>
          <p:cNvSpPr/>
          <p:nvPr/>
        </p:nvSpPr>
        <p:spPr>
          <a:xfrm>
            <a:off x="6534150" y="5505450"/>
            <a:ext cx="5124450" cy="6000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00">
                <a:solidFill>
                  <a:srgbClr val="132F40"/>
                </a:solidFill>
                <a:latin typeface="Helvetica Neue"/>
                <a:ea typeface="Helvetica Neue"/>
                <a:cs typeface="Helvetica Neue"/>
                <a:sym typeface="Helvetica Neue"/>
              </a:rPr>
              <a:t>Nieuwe functies en verbeteringen;</a:t>
            </a:r>
            <a:endParaRPr/>
          </a:p>
          <a:p>
            <a:pPr indent="0" lvl="0" marL="0" marR="0" rtl="0" algn="l">
              <a:spcBef>
                <a:spcPts val="0"/>
              </a:spcBef>
              <a:spcAft>
                <a:spcPts val="0"/>
              </a:spcAft>
              <a:buNone/>
            </a:pPr>
            <a:r>
              <a:rPr b="0" lang="en-US" sz="1800">
                <a:solidFill>
                  <a:srgbClr val="132F40"/>
                </a:solidFill>
                <a:latin typeface="Helvetica Neue"/>
                <a:ea typeface="Helvetica Neue"/>
                <a:cs typeface="Helvetica Neue"/>
                <a:sym typeface="Helvetica Neue"/>
              </a:rPr>
              <a:t>de beheerder plant en test de uitrol.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7"/>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Waarom Kubernetes?</a:t>
            </a:r>
            <a:endParaRPr b="1" sz="3225">
              <a:solidFill>
                <a:srgbClr val="132F40"/>
              </a:solidFill>
              <a:latin typeface="Helvetica Neue"/>
              <a:ea typeface="Helvetica Neue"/>
              <a:cs typeface="Helvetica Neue"/>
              <a:sym typeface="Helvetica Neue"/>
            </a:endParaRPr>
          </a:p>
          <a:p>
            <a:pPr indent="0" lvl="0" marL="0" marR="0" rtl="0" algn="l">
              <a:spcBef>
                <a:spcPts val="0"/>
              </a:spcBef>
              <a:spcAft>
                <a:spcPts val="0"/>
              </a:spcAft>
              <a:buClr>
                <a:srgbClr val="000000"/>
              </a:buClr>
              <a:buFont typeface="Arial"/>
              <a:buNone/>
            </a:pPr>
            <a:r>
              <a:rPr b="1" lang="en-US" sz="1600">
                <a:solidFill>
                  <a:srgbClr val="132F40"/>
                </a:solidFill>
                <a:latin typeface="Helvetica Neue"/>
                <a:ea typeface="Helvetica Neue"/>
                <a:cs typeface="Helvetica Neue"/>
                <a:sym typeface="Helvetica Neue"/>
              </a:rPr>
              <a:t>een systeem dat ervoor zorgt dat applicaties op de backend kunnen draaien en worden beheerd.</a:t>
            </a:r>
            <a:endParaRPr b="1" sz="1600">
              <a:solidFill>
                <a:srgbClr val="132F40"/>
              </a:solidFill>
              <a:latin typeface="Helvetica Neue"/>
              <a:ea typeface="Helvetica Neue"/>
              <a:cs typeface="Helvetica Neue"/>
              <a:sym typeface="Helvetica Neue"/>
            </a:endParaRPr>
          </a:p>
        </p:txBody>
      </p:sp>
      <p:sp>
        <p:nvSpPr>
          <p:cNvPr id="167" name="Google Shape;167;p7"/>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168" name="Google Shape;168;p7"/>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08</a:t>
            </a:r>
            <a:endParaRPr/>
          </a:p>
        </p:txBody>
      </p:sp>
      <p:sp>
        <p:nvSpPr>
          <p:cNvPr id="169" name="Google Shape;169;p7"/>
          <p:cNvSpPr/>
          <p:nvPr/>
        </p:nvSpPr>
        <p:spPr>
          <a:xfrm>
            <a:off x="533400" y="1685925"/>
            <a:ext cx="1112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400">
                <a:solidFill>
                  <a:srgbClr val="12677E"/>
                </a:solidFill>
                <a:latin typeface="Helvetica Neue"/>
                <a:ea typeface="Helvetica Neue"/>
                <a:cs typeface="Helvetica Neue"/>
                <a:sym typeface="Helvetica Neue"/>
              </a:rPr>
              <a:t>SAS Studio  ·  Visual Analytics  ·  Compute</a:t>
            </a:r>
            <a:endParaRPr/>
          </a:p>
        </p:txBody>
      </p:sp>
      <p:sp>
        <p:nvSpPr>
          <p:cNvPr id="170" name="Google Shape;170;p7"/>
          <p:cNvSpPr/>
          <p:nvPr/>
        </p:nvSpPr>
        <p:spPr>
          <a:xfrm>
            <a:off x="533400" y="2409825"/>
            <a:ext cx="6343650" cy="34766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762000" y="2571750"/>
            <a:ext cx="5829300" cy="4857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625">
                <a:solidFill>
                  <a:srgbClr val="12677E"/>
                </a:solidFill>
                <a:latin typeface="Helvetica Neue"/>
                <a:ea typeface="Helvetica Neue"/>
                <a:cs typeface="Helvetica Neue"/>
                <a:sym typeface="Helvetica Neue"/>
              </a:rPr>
              <a:t>Kubernetes</a:t>
            </a:r>
            <a:endParaRPr/>
          </a:p>
        </p:txBody>
      </p:sp>
      <p:sp>
        <p:nvSpPr>
          <p:cNvPr id="172" name="Google Shape;172;p7"/>
          <p:cNvSpPr/>
          <p:nvPr/>
        </p:nvSpPr>
        <p:spPr>
          <a:xfrm>
            <a:off x="866775" y="3286125"/>
            <a:ext cx="2590800" cy="109537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1019175" y="3381375"/>
            <a:ext cx="22860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Pod</a:t>
            </a:r>
            <a:endParaRPr/>
          </a:p>
        </p:txBody>
      </p:sp>
      <p:sp>
        <p:nvSpPr>
          <p:cNvPr id="174" name="Google Shape;174;p7"/>
          <p:cNvSpPr/>
          <p:nvPr/>
        </p:nvSpPr>
        <p:spPr>
          <a:xfrm>
            <a:off x="1019175" y="3790950"/>
            <a:ext cx="2286000" cy="5238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Container(s)</a:t>
            </a:r>
            <a:endParaRPr/>
          </a:p>
        </p:txBody>
      </p:sp>
      <p:sp>
        <p:nvSpPr>
          <p:cNvPr id="175" name="Google Shape;175;p7"/>
          <p:cNvSpPr/>
          <p:nvPr/>
        </p:nvSpPr>
        <p:spPr>
          <a:xfrm>
            <a:off x="3924300" y="3286125"/>
            <a:ext cx="2590800" cy="109537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4076700" y="3381375"/>
            <a:ext cx="22860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Pod</a:t>
            </a:r>
            <a:endParaRPr/>
          </a:p>
        </p:txBody>
      </p:sp>
      <p:sp>
        <p:nvSpPr>
          <p:cNvPr id="177" name="Google Shape;177;p7"/>
          <p:cNvSpPr/>
          <p:nvPr/>
        </p:nvSpPr>
        <p:spPr>
          <a:xfrm>
            <a:off x="4076700" y="3790950"/>
            <a:ext cx="2286000" cy="5238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Container(s)</a:t>
            </a:r>
            <a:endParaRPr/>
          </a:p>
        </p:txBody>
      </p:sp>
      <p:sp>
        <p:nvSpPr>
          <p:cNvPr id="178" name="Google Shape;178;p7"/>
          <p:cNvSpPr/>
          <p:nvPr/>
        </p:nvSpPr>
        <p:spPr>
          <a:xfrm>
            <a:off x="819150" y="4676775"/>
            <a:ext cx="5657850" cy="4476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132F40"/>
                </a:solidFill>
                <a:latin typeface="Helvetica Neue"/>
                <a:ea typeface="Helvetica Neue"/>
                <a:cs typeface="Helvetica Neue"/>
                <a:sym typeface="Helvetica Neue"/>
              </a:rPr>
              <a:t>Samenwerkende applicaties en diensten</a:t>
            </a:r>
            <a:endParaRPr/>
          </a:p>
        </p:txBody>
      </p:sp>
      <p:sp>
        <p:nvSpPr>
          <p:cNvPr id="179" name="Google Shape;179;p7"/>
          <p:cNvSpPr/>
          <p:nvPr/>
        </p:nvSpPr>
        <p:spPr>
          <a:xfrm>
            <a:off x="819150" y="5210175"/>
            <a:ext cx="5657850" cy="400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00">
                <a:solidFill>
                  <a:srgbClr val="53616B"/>
                </a:solidFill>
                <a:latin typeface="Helvetica Neue"/>
                <a:ea typeface="Helvetica Neue"/>
                <a:cs typeface="Helvetica Neue"/>
                <a:sym typeface="Helvetica Neue"/>
              </a:rPr>
              <a:t>Eén applicatie kan meerdere Pods gebruiken.</a:t>
            </a:r>
            <a:endParaRPr/>
          </a:p>
        </p:txBody>
      </p:sp>
      <p:sp>
        <p:nvSpPr>
          <p:cNvPr id="180" name="Google Shape;180;p7"/>
          <p:cNvSpPr/>
          <p:nvPr/>
        </p:nvSpPr>
        <p:spPr>
          <a:xfrm>
            <a:off x="7467600" y="2505075"/>
            <a:ext cx="4152900" cy="4095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2677E"/>
                </a:solidFill>
                <a:latin typeface="Helvetica Neue"/>
                <a:ea typeface="Helvetica Neue"/>
                <a:cs typeface="Helvetica Neue"/>
                <a:sym typeface="Helvetica Neue"/>
              </a:rPr>
              <a:t>STARTEN</a:t>
            </a:r>
            <a:endParaRPr/>
          </a:p>
        </p:txBody>
      </p:sp>
      <p:sp>
        <p:nvSpPr>
          <p:cNvPr id="181" name="Google Shape;181;p7"/>
          <p:cNvSpPr/>
          <p:nvPr/>
        </p:nvSpPr>
        <p:spPr>
          <a:xfrm>
            <a:off x="7467600" y="2952750"/>
            <a:ext cx="4152900" cy="4857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75">
                <a:solidFill>
                  <a:srgbClr val="132F40"/>
                </a:solidFill>
                <a:latin typeface="Helvetica Neue"/>
                <a:ea typeface="Helvetica Neue"/>
                <a:cs typeface="Helvetica Neue"/>
                <a:sym typeface="Helvetica Neue"/>
              </a:rPr>
              <a:t>Benodigde Pods laten draaien</a:t>
            </a:r>
            <a:endParaRPr/>
          </a:p>
        </p:txBody>
      </p:sp>
      <p:sp>
        <p:nvSpPr>
          <p:cNvPr id="182" name="Google Shape;182;p7"/>
          <p:cNvSpPr/>
          <p:nvPr/>
        </p:nvSpPr>
        <p:spPr>
          <a:xfrm>
            <a:off x="7467600" y="3600450"/>
            <a:ext cx="4152900" cy="4095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2677E"/>
                </a:solidFill>
                <a:latin typeface="Helvetica Neue"/>
                <a:ea typeface="Helvetica Neue"/>
                <a:cs typeface="Helvetica Neue"/>
                <a:sym typeface="Helvetica Neue"/>
              </a:rPr>
              <a:t>HERSTELLEN</a:t>
            </a:r>
            <a:endParaRPr/>
          </a:p>
        </p:txBody>
      </p:sp>
      <p:sp>
        <p:nvSpPr>
          <p:cNvPr id="183" name="Google Shape;183;p7"/>
          <p:cNvSpPr/>
          <p:nvPr/>
        </p:nvSpPr>
        <p:spPr>
          <a:xfrm>
            <a:off x="7467600" y="4048125"/>
            <a:ext cx="4152900" cy="4857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75">
                <a:solidFill>
                  <a:srgbClr val="132F40"/>
                </a:solidFill>
                <a:latin typeface="Helvetica Neue"/>
                <a:ea typeface="Helvetica Neue"/>
                <a:cs typeface="Helvetica Neue"/>
                <a:sym typeface="Helvetica Neue"/>
              </a:rPr>
              <a:t>Verdwenen Pods vervangen</a:t>
            </a:r>
            <a:endParaRPr/>
          </a:p>
        </p:txBody>
      </p:sp>
      <p:sp>
        <p:nvSpPr>
          <p:cNvPr id="184" name="Google Shape;184;p7"/>
          <p:cNvSpPr/>
          <p:nvPr/>
        </p:nvSpPr>
        <p:spPr>
          <a:xfrm>
            <a:off x="7467600" y="4695825"/>
            <a:ext cx="4152900" cy="4095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2677E"/>
                </a:solidFill>
                <a:latin typeface="Helvetica Neue"/>
                <a:ea typeface="Helvetica Neue"/>
                <a:cs typeface="Helvetica Neue"/>
                <a:sym typeface="Helvetica Neue"/>
              </a:rPr>
              <a:t>SCHALEN</a:t>
            </a:r>
            <a:endParaRPr/>
          </a:p>
        </p:txBody>
      </p:sp>
      <p:sp>
        <p:nvSpPr>
          <p:cNvPr id="185" name="Google Shape;185;p7"/>
          <p:cNvSpPr/>
          <p:nvPr/>
        </p:nvSpPr>
        <p:spPr>
          <a:xfrm>
            <a:off x="7467600" y="5143500"/>
            <a:ext cx="4152900" cy="4857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75">
                <a:solidFill>
                  <a:srgbClr val="132F40"/>
                </a:solidFill>
                <a:latin typeface="Helvetica Neue"/>
                <a:ea typeface="Helvetica Neue"/>
                <a:cs typeface="Helvetica Neue"/>
                <a:sym typeface="Helvetica Neue"/>
              </a:rPr>
              <a:t>Capaciteit gericht aanpassen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9"/>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Cluster, node, Pod en container</a:t>
            </a:r>
            <a:endParaRPr/>
          </a:p>
        </p:txBody>
      </p:sp>
      <p:sp>
        <p:nvSpPr>
          <p:cNvPr id="192" name="Google Shape;192;p9"/>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193" name="Google Shape;193;p9"/>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09</a:t>
            </a:r>
            <a:endParaRPr/>
          </a:p>
        </p:txBody>
      </p:sp>
      <p:sp>
        <p:nvSpPr>
          <p:cNvPr id="194" name="Google Shape;194;p9"/>
          <p:cNvSpPr/>
          <p:nvPr/>
        </p:nvSpPr>
        <p:spPr>
          <a:xfrm>
            <a:off x="533400" y="1809750"/>
            <a:ext cx="6591300" cy="40481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733425" y="1933575"/>
            <a:ext cx="6000750"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12677E"/>
                </a:solidFill>
                <a:latin typeface="Helvetica Neue"/>
                <a:ea typeface="Helvetica Neue"/>
                <a:cs typeface="Helvetica Neue"/>
                <a:sym typeface="Helvetica Neue"/>
              </a:rPr>
              <a:t>Cluster</a:t>
            </a:r>
            <a:endParaRPr/>
          </a:p>
        </p:txBody>
      </p:sp>
      <p:sp>
        <p:nvSpPr>
          <p:cNvPr id="196" name="Google Shape;196;p9"/>
          <p:cNvSpPr/>
          <p:nvPr/>
        </p:nvSpPr>
        <p:spPr>
          <a:xfrm>
            <a:off x="904875" y="2571750"/>
            <a:ext cx="5810250" cy="2943225"/>
          </a:xfrm>
          <a:prstGeom prst="rect">
            <a:avLst/>
          </a:prstGeom>
          <a:solidFill>
            <a:srgbClr val="FFFFFF"/>
          </a:solidFill>
          <a:ln cap="flat" cmpd="sng" w="19050">
            <a:solidFill>
              <a:srgbClr val="94A9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1104900" y="2676525"/>
            <a:ext cx="5429250" cy="400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32F40"/>
                </a:solidFill>
                <a:latin typeface="Helvetica Neue"/>
                <a:ea typeface="Helvetica Neue"/>
                <a:cs typeface="Helvetica Neue"/>
                <a:sym typeface="Helvetica Neue"/>
              </a:rPr>
              <a:t>Node</a:t>
            </a:r>
            <a:endParaRPr/>
          </a:p>
        </p:txBody>
      </p:sp>
      <p:sp>
        <p:nvSpPr>
          <p:cNvPr id="198" name="Google Shape;198;p9"/>
          <p:cNvSpPr/>
          <p:nvPr/>
        </p:nvSpPr>
        <p:spPr>
          <a:xfrm>
            <a:off x="1343025" y="3267075"/>
            <a:ext cx="4905375" cy="1838325"/>
          </a:xfrm>
          <a:prstGeom prst="rect">
            <a:avLst/>
          </a:prstGeom>
          <a:solidFill>
            <a:srgbClr val="F0F5F7"/>
          </a:solidFill>
          <a:ln cap="flat" cmpd="sng" w="19050">
            <a:solidFill>
              <a:srgbClr val="237A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1524000" y="3362325"/>
            <a:ext cx="4429125" cy="400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237A56"/>
                </a:solidFill>
                <a:latin typeface="Helvetica Neue"/>
                <a:ea typeface="Helvetica Neue"/>
                <a:cs typeface="Helvetica Neue"/>
                <a:sym typeface="Helvetica Neue"/>
              </a:rPr>
              <a:t>Pod</a:t>
            </a:r>
            <a:endParaRPr/>
          </a:p>
        </p:txBody>
      </p:sp>
      <p:sp>
        <p:nvSpPr>
          <p:cNvPr id="200" name="Google Shape;200;p9"/>
          <p:cNvSpPr/>
          <p:nvPr/>
        </p:nvSpPr>
        <p:spPr>
          <a:xfrm>
            <a:off x="1847850" y="3962400"/>
            <a:ext cx="3990600" cy="1047000"/>
          </a:xfrm>
          <a:prstGeom prst="rect">
            <a:avLst/>
          </a:prstGeom>
          <a:solidFill>
            <a:srgbClr val="F0F5F7"/>
          </a:solidFill>
          <a:ln cap="flat" cmpd="sng" w="19050">
            <a:solidFill>
              <a:srgbClr val="237A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2000250" y="4057650"/>
            <a:ext cx="355282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237A56"/>
                </a:solidFill>
                <a:latin typeface="Helvetica Neue"/>
                <a:ea typeface="Helvetica Neue"/>
                <a:cs typeface="Helvetica Neue"/>
                <a:sym typeface="Helvetica Neue"/>
              </a:rPr>
              <a:t>Container</a:t>
            </a:r>
            <a:endParaRPr/>
          </a:p>
        </p:txBody>
      </p:sp>
      <p:sp>
        <p:nvSpPr>
          <p:cNvPr id="202" name="Google Shape;202;p9"/>
          <p:cNvSpPr/>
          <p:nvPr/>
        </p:nvSpPr>
        <p:spPr>
          <a:xfrm>
            <a:off x="2000250" y="4467225"/>
            <a:ext cx="3552825"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00">
                <a:solidFill>
                  <a:srgbClr val="132F40"/>
                </a:solidFill>
                <a:latin typeface="Helvetica Neue"/>
                <a:ea typeface="Helvetica Neue"/>
                <a:cs typeface="Helvetica Neue"/>
                <a:sym typeface="Helvetica Neue"/>
              </a:rPr>
              <a:t>Draaiende applicatie ges</a:t>
            </a:r>
            <a:r>
              <a:rPr lang="en-US" sz="1600">
                <a:solidFill>
                  <a:srgbClr val="132F40"/>
                </a:solidFill>
                <a:latin typeface="Helvetica Neue"/>
                <a:ea typeface="Helvetica Neue"/>
                <a:cs typeface="Helvetica Neue"/>
                <a:sym typeface="Helvetica Neue"/>
              </a:rPr>
              <a:t>tart uit een image (blueprint)</a:t>
            </a:r>
            <a:endParaRPr sz="1600"/>
          </a:p>
        </p:txBody>
      </p:sp>
      <p:sp>
        <p:nvSpPr>
          <p:cNvPr id="203" name="Google Shape;203;p9"/>
          <p:cNvSpPr/>
          <p:nvPr/>
        </p:nvSpPr>
        <p:spPr>
          <a:xfrm>
            <a:off x="7696200" y="1933575"/>
            <a:ext cx="3838575" cy="37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175">
                <a:solidFill>
                  <a:srgbClr val="132F40"/>
                </a:solidFill>
                <a:latin typeface="Helvetica Neue"/>
                <a:ea typeface="Helvetica Neue"/>
                <a:cs typeface="Helvetica Neue"/>
                <a:sym typeface="Helvetica Neue"/>
              </a:rPr>
              <a:t>Control plane</a:t>
            </a:r>
            <a:endParaRPr/>
          </a:p>
          <a:p>
            <a:pPr indent="0" lvl="0" marL="0" marR="0" rtl="0" algn="l">
              <a:spcBef>
                <a:spcPts val="0"/>
              </a:spcBef>
              <a:spcAft>
                <a:spcPts val="0"/>
              </a:spcAft>
              <a:buNone/>
            </a:pPr>
            <a:r>
              <a:rPr b="0" lang="en-US" sz="2175">
                <a:solidFill>
                  <a:srgbClr val="132F40"/>
                </a:solidFill>
                <a:latin typeface="Helvetica Neue"/>
                <a:ea typeface="Helvetica Neue"/>
                <a:cs typeface="Helvetica Neue"/>
                <a:sym typeface="Helvetica Neue"/>
              </a:rPr>
              <a:t>beheert de toestand</a:t>
            </a:r>
            <a:endParaRPr/>
          </a:p>
          <a:p>
            <a:pPr indent="0" lvl="0" marL="0" marR="0" rtl="0" algn="l">
              <a:spcBef>
                <a:spcPts val="0"/>
              </a:spcBef>
              <a:spcAft>
                <a:spcPts val="0"/>
              </a:spcAft>
              <a:buNone/>
            </a:pPr>
            <a:r>
              <a:t/>
            </a:r>
            <a:endParaRPr b="0" sz="2175">
              <a:solidFill>
                <a:srgbClr val="132F40"/>
              </a:solidFill>
              <a:latin typeface="Helvetica Neue"/>
              <a:ea typeface="Helvetica Neue"/>
              <a:cs typeface="Helvetica Neue"/>
              <a:sym typeface="Helvetica Neue"/>
            </a:endParaRPr>
          </a:p>
          <a:p>
            <a:pPr indent="0" lvl="0" marL="0" marR="0" rtl="0" algn="l">
              <a:spcBef>
                <a:spcPts val="0"/>
              </a:spcBef>
              <a:spcAft>
                <a:spcPts val="0"/>
              </a:spcAft>
              <a:buNone/>
            </a:pPr>
            <a:r>
              <a:rPr b="0" lang="en-US" sz="2175">
                <a:solidFill>
                  <a:srgbClr val="132F40"/>
                </a:solidFill>
                <a:latin typeface="Helvetica Neue"/>
                <a:ea typeface="Helvetica Neue"/>
                <a:cs typeface="Helvetica Neue"/>
                <a:sym typeface="Helvetica Neue"/>
              </a:rPr>
              <a:t>Namespace (</a:t>
            </a:r>
            <a:r>
              <a:rPr lang="en-US" sz="2175">
                <a:solidFill>
                  <a:srgbClr val="132F40"/>
                </a:solidFill>
                <a:latin typeface="Helvetica Neue"/>
                <a:ea typeface="Helvetica Neue"/>
                <a:cs typeface="Helvetica Neue"/>
                <a:sym typeface="Helvetica Neue"/>
              </a:rPr>
              <a:t>logische indeling</a:t>
            </a:r>
            <a:r>
              <a:rPr b="0" lang="en-US" sz="2175">
                <a:solidFill>
                  <a:srgbClr val="132F40"/>
                </a:solidFill>
                <a:latin typeface="Helvetica Neue"/>
                <a:ea typeface="Helvetica Neue"/>
                <a:cs typeface="Helvetica Neue"/>
                <a:sym typeface="Helvetica Neue"/>
              </a:rPr>
              <a:t>)</a:t>
            </a:r>
            <a:endParaRPr/>
          </a:p>
          <a:p>
            <a:pPr indent="0" lvl="0" marL="0" marR="0" rtl="0" algn="l">
              <a:spcBef>
                <a:spcPts val="0"/>
              </a:spcBef>
              <a:spcAft>
                <a:spcPts val="0"/>
              </a:spcAft>
              <a:buNone/>
            </a:pPr>
            <a:r>
              <a:rPr b="0" lang="en-US" sz="2175">
                <a:solidFill>
                  <a:srgbClr val="132F40"/>
                </a:solidFill>
                <a:latin typeface="Helvetica Neue"/>
                <a:ea typeface="Helvetica Neue"/>
                <a:cs typeface="Helvetica Neue"/>
                <a:sym typeface="Helvetica Neue"/>
              </a:rPr>
              <a:t>ordent resources</a:t>
            </a:r>
            <a:endParaRPr/>
          </a:p>
          <a:p>
            <a:pPr indent="0" lvl="0" marL="0" marR="0" rtl="0" algn="l">
              <a:spcBef>
                <a:spcPts val="0"/>
              </a:spcBef>
              <a:spcAft>
                <a:spcPts val="0"/>
              </a:spcAft>
              <a:buNone/>
            </a:pPr>
            <a:r>
              <a:t/>
            </a:r>
            <a:endParaRPr b="0" sz="2175">
              <a:solidFill>
                <a:srgbClr val="132F40"/>
              </a:solidFill>
              <a:latin typeface="Helvetica Neue"/>
              <a:ea typeface="Helvetica Neue"/>
              <a:cs typeface="Helvetica Neue"/>
              <a:sym typeface="Helvetica Neue"/>
            </a:endParaRPr>
          </a:p>
          <a:p>
            <a:pPr indent="0" lvl="0" marL="0" marR="0" rtl="0" algn="l">
              <a:spcBef>
                <a:spcPts val="0"/>
              </a:spcBef>
              <a:spcAft>
                <a:spcPts val="0"/>
              </a:spcAft>
              <a:buNone/>
            </a:pPr>
            <a:r>
              <a:rPr b="0" lang="en-US" sz="2175">
                <a:solidFill>
                  <a:srgbClr val="132F40"/>
                </a:solidFill>
                <a:latin typeface="Helvetica Neue"/>
                <a:ea typeface="Helvetica Neue"/>
                <a:cs typeface="Helvetica Neue"/>
                <a:sym typeface="Helvetica Neue"/>
              </a:rPr>
              <a:t>Vandaag: backend-workshop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0"/>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Deployment: beschrijven wat moet draaien</a:t>
            </a:r>
            <a:endParaRPr/>
          </a:p>
        </p:txBody>
      </p:sp>
      <p:sp>
        <p:nvSpPr>
          <p:cNvPr id="210" name="Google Shape;210;p10"/>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211" name="Google Shape;211;p10"/>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10</a:t>
            </a:r>
            <a:endParaRPr/>
          </a:p>
        </p:txBody>
      </p:sp>
      <p:sp>
        <p:nvSpPr>
          <p:cNvPr id="212" name="Google Shape;212;p10"/>
          <p:cNvSpPr/>
          <p:nvPr/>
        </p:nvSpPr>
        <p:spPr>
          <a:xfrm>
            <a:off x="533400" y="2152650"/>
            <a:ext cx="4762500" cy="10287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685800" y="2247900"/>
            <a:ext cx="44577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YAML</a:t>
            </a:r>
            <a:endParaRPr/>
          </a:p>
        </p:txBody>
      </p:sp>
      <p:sp>
        <p:nvSpPr>
          <p:cNvPr id="214" name="Google Shape;214;p10"/>
          <p:cNvSpPr/>
          <p:nvPr/>
        </p:nvSpPr>
        <p:spPr>
          <a:xfrm>
            <a:off x="685800" y="2657475"/>
            <a:ext cx="44577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Image + replicas + instellingen</a:t>
            </a:r>
            <a:endParaRPr/>
          </a:p>
        </p:txBody>
      </p:sp>
      <p:sp>
        <p:nvSpPr>
          <p:cNvPr id="215" name="Google Shape;215;p10"/>
          <p:cNvSpPr/>
          <p:nvPr/>
        </p:nvSpPr>
        <p:spPr>
          <a:xfrm>
            <a:off x="5429250" y="2562225"/>
            <a:ext cx="85725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6553200" y="2152650"/>
            <a:ext cx="5105400" cy="10287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6705600" y="2247900"/>
            <a:ext cx="48006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Deployment</a:t>
            </a:r>
            <a:endParaRPr/>
          </a:p>
        </p:txBody>
      </p:sp>
      <p:sp>
        <p:nvSpPr>
          <p:cNvPr id="218" name="Google Shape;218;p10"/>
          <p:cNvSpPr/>
          <p:nvPr/>
        </p:nvSpPr>
        <p:spPr>
          <a:xfrm>
            <a:off x="6705600" y="2657475"/>
            <a:ext cx="480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Beheert de gewenste uitvoering</a:t>
            </a:r>
            <a:endParaRPr/>
          </a:p>
        </p:txBody>
      </p:sp>
      <p:sp>
        <p:nvSpPr>
          <p:cNvPr id="219" name="Google Shape;219;p10"/>
          <p:cNvSpPr/>
          <p:nvPr/>
        </p:nvSpPr>
        <p:spPr>
          <a:xfrm>
            <a:off x="8953500" y="3248025"/>
            <a:ext cx="228600" cy="323850"/>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6553200" y="3686175"/>
            <a:ext cx="5105400" cy="10287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6705600" y="3781425"/>
            <a:ext cx="48006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ReplicaSet</a:t>
            </a:r>
            <a:endParaRPr/>
          </a:p>
        </p:txBody>
      </p:sp>
      <p:sp>
        <p:nvSpPr>
          <p:cNvPr id="222" name="Google Shape;222;p10"/>
          <p:cNvSpPr/>
          <p:nvPr/>
        </p:nvSpPr>
        <p:spPr>
          <a:xfrm>
            <a:off x="6705600" y="4191000"/>
            <a:ext cx="480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Zorgt voor het gewenste aantal Pods</a:t>
            </a:r>
            <a:endParaRPr/>
          </a:p>
        </p:txBody>
      </p:sp>
      <p:sp>
        <p:nvSpPr>
          <p:cNvPr id="223" name="Google Shape;223;p10"/>
          <p:cNvSpPr/>
          <p:nvPr/>
        </p:nvSpPr>
        <p:spPr>
          <a:xfrm>
            <a:off x="8953500" y="4781550"/>
            <a:ext cx="228600" cy="323850"/>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6553200" y="5219700"/>
            <a:ext cx="5105400" cy="93345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6705600" y="5314950"/>
            <a:ext cx="48006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Pod met container</a:t>
            </a:r>
            <a:endParaRPr/>
          </a:p>
        </p:txBody>
      </p:sp>
      <p:sp>
        <p:nvSpPr>
          <p:cNvPr id="226" name="Google Shape;226;p10"/>
          <p:cNvSpPr/>
          <p:nvPr/>
        </p:nvSpPr>
        <p:spPr>
          <a:xfrm>
            <a:off x="6705600" y="5724525"/>
            <a:ext cx="48006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Voert de applicatie uit</a:t>
            </a:r>
            <a:endParaRPr/>
          </a:p>
        </p:txBody>
      </p:sp>
      <p:sp>
        <p:nvSpPr>
          <p:cNvPr id="227" name="Google Shape;227;p10"/>
          <p:cNvSpPr/>
          <p:nvPr/>
        </p:nvSpPr>
        <p:spPr>
          <a:xfrm>
            <a:off x="685800" y="3552825"/>
            <a:ext cx="455295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2677E"/>
                </a:solidFill>
                <a:latin typeface="Helvetica Neue"/>
                <a:ea typeface="Helvetica Neue"/>
                <a:cs typeface="Helvetica Neue"/>
                <a:sym typeface="Helvetica Neue"/>
              </a:rPr>
              <a:t>kubectl apply</a:t>
            </a:r>
            <a:endParaRPr/>
          </a:p>
        </p:txBody>
      </p:sp>
      <p:sp>
        <p:nvSpPr>
          <p:cNvPr id="228" name="Google Shape;228;p10"/>
          <p:cNvSpPr/>
          <p:nvPr/>
        </p:nvSpPr>
        <p:spPr>
          <a:xfrm>
            <a:off x="685800" y="4181475"/>
            <a:ext cx="4619625" cy="1314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250">
                <a:solidFill>
                  <a:srgbClr val="132F40"/>
                </a:solidFill>
                <a:latin typeface="Helvetica Neue"/>
                <a:ea typeface="Helvetica Neue"/>
                <a:cs typeface="Helvetica Neue"/>
                <a:sym typeface="Helvetica Neue"/>
              </a:rPr>
              <a:t>Configuratie geaccepteerd?</a:t>
            </a:r>
            <a:endParaRPr/>
          </a:p>
          <a:p>
            <a:pPr indent="0" lvl="0" marL="0" marR="0" rtl="0" algn="l">
              <a:spcBef>
                <a:spcPts val="0"/>
              </a:spcBef>
              <a:spcAft>
                <a:spcPts val="0"/>
              </a:spcAft>
              <a:buNone/>
            </a:pPr>
            <a:r>
              <a:rPr b="0" lang="en-US" sz="2250">
                <a:solidFill>
                  <a:srgbClr val="132F40"/>
                </a:solidFill>
                <a:latin typeface="Helvetica Neue"/>
                <a:ea typeface="Helvetica Neue"/>
                <a:cs typeface="Helvetica Neue"/>
                <a:sym typeface="Helvetica Neue"/>
              </a:rPr>
              <a:t>Daarna applicatie controleren.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11"/>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Service: een stabiele interne route</a:t>
            </a:r>
            <a:endParaRPr/>
          </a:p>
        </p:txBody>
      </p:sp>
      <p:sp>
        <p:nvSpPr>
          <p:cNvPr id="235" name="Google Shape;235;p11"/>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236" name="Google Shape;236;p11"/>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11</a:t>
            </a:r>
            <a:endParaRPr/>
          </a:p>
        </p:txBody>
      </p:sp>
      <p:sp>
        <p:nvSpPr>
          <p:cNvPr id="237" name="Google Shape;237;p11"/>
          <p:cNvSpPr/>
          <p:nvPr/>
        </p:nvSpPr>
        <p:spPr>
          <a:xfrm>
            <a:off x="533400" y="2857500"/>
            <a:ext cx="2800350" cy="10763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a:off x="685800" y="2952750"/>
            <a:ext cx="249555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Client in het cluster</a:t>
            </a:r>
            <a:endParaRPr/>
          </a:p>
        </p:txBody>
      </p:sp>
      <p:sp>
        <p:nvSpPr>
          <p:cNvPr id="239" name="Google Shape;239;p11"/>
          <p:cNvSpPr/>
          <p:nvPr/>
        </p:nvSpPr>
        <p:spPr>
          <a:xfrm>
            <a:off x="685800" y="3362325"/>
            <a:ext cx="2495550" cy="5048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HTTP-verzoek</a:t>
            </a:r>
            <a:endParaRPr/>
          </a:p>
        </p:txBody>
      </p:sp>
      <p:sp>
        <p:nvSpPr>
          <p:cNvPr id="240" name="Google Shape;240;p11"/>
          <p:cNvSpPr/>
          <p:nvPr/>
        </p:nvSpPr>
        <p:spPr>
          <a:xfrm>
            <a:off x="3438525" y="3257550"/>
            <a:ext cx="55245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4114800" y="2857500"/>
            <a:ext cx="3352800" cy="10763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4267200" y="2952750"/>
            <a:ext cx="30480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Service :80</a:t>
            </a:r>
            <a:endParaRPr/>
          </a:p>
        </p:txBody>
      </p:sp>
      <p:sp>
        <p:nvSpPr>
          <p:cNvPr id="243" name="Google Shape;243;p11"/>
          <p:cNvSpPr/>
          <p:nvPr/>
        </p:nvSpPr>
        <p:spPr>
          <a:xfrm>
            <a:off x="4267200" y="3362325"/>
            <a:ext cx="3048000" cy="5048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app=nginx-demo-&lt;naam&gt;</a:t>
            </a:r>
            <a:endParaRPr/>
          </a:p>
        </p:txBody>
      </p:sp>
      <p:sp>
        <p:nvSpPr>
          <p:cNvPr id="244" name="Google Shape;244;p11"/>
          <p:cNvSpPr/>
          <p:nvPr/>
        </p:nvSpPr>
        <p:spPr>
          <a:xfrm>
            <a:off x="7581900" y="3257550"/>
            <a:ext cx="542925"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8248650" y="2857500"/>
            <a:ext cx="3409950" cy="10763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8401050" y="2952750"/>
            <a:ext cx="310515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Pod :80</a:t>
            </a:r>
            <a:endParaRPr/>
          </a:p>
        </p:txBody>
      </p:sp>
      <p:sp>
        <p:nvSpPr>
          <p:cNvPr id="247" name="Google Shape;247;p11"/>
          <p:cNvSpPr/>
          <p:nvPr/>
        </p:nvSpPr>
        <p:spPr>
          <a:xfrm>
            <a:off x="8401050" y="3362325"/>
            <a:ext cx="3105150" cy="5048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app=nginx-demo-&lt;naam&gt;</a:t>
            </a:r>
            <a:endParaRPr/>
          </a:p>
        </p:txBody>
      </p:sp>
      <p:sp>
        <p:nvSpPr>
          <p:cNvPr id="248" name="Google Shape;248;p11"/>
          <p:cNvSpPr/>
          <p:nvPr/>
        </p:nvSpPr>
        <p:spPr>
          <a:xfrm>
            <a:off x="4162425" y="1885950"/>
            <a:ext cx="3238500" cy="552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625">
                <a:solidFill>
                  <a:srgbClr val="12677E"/>
                </a:solidFill>
                <a:latin typeface="Helvetica Neue"/>
                <a:ea typeface="Helvetica Neue"/>
                <a:cs typeface="Helvetica Neue"/>
                <a:sym typeface="Helvetica Neue"/>
              </a:rPr>
              <a:t>Stabiele naam en toegangspunt</a:t>
            </a:r>
            <a:endParaRPr/>
          </a:p>
        </p:txBody>
      </p:sp>
      <p:sp>
        <p:nvSpPr>
          <p:cNvPr id="249" name="Google Shape;249;p11"/>
          <p:cNvSpPr/>
          <p:nvPr/>
        </p:nvSpPr>
        <p:spPr>
          <a:xfrm>
            <a:off x="8248650" y="1885950"/>
            <a:ext cx="3371850" cy="552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2677E"/>
                </a:solidFill>
                <a:latin typeface="Helvetica Neue"/>
                <a:ea typeface="Helvetica Neue"/>
                <a:cs typeface="Helvetica Neue"/>
                <a:sym typeface="Helvetica Neue"/>
              </a:rPr>
              <a:t>Veranderlijk Podadres</a:t>
            </a:r>
            <a:endParaRPr/>
          </a:p>
        </p:txBody>
      </p:sp>
      <p:sp>
        <p:nvSpPr>
          <p:cNvPr id="250" name="Google Shape;250;p11"/>
          <p:cNvSpPr/>
          <p:nvPr/>
        </p:nvSpPr>
        <p:spPr>
          <a:xfrm>
            <a:off x="533400" y="4619625"/>
            <a:ext cx="11125200" cy="6667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325">
                <a:solidFill>
                  <a:srgbClr val="132F40"/>
                </a:solidFill>
                <a:latin typeface="Helvetica Neue"/>
                <a:ea typeface="Helvetica Neue"/>
                <a:cs typeface="Helvetica Neue"/>
                <a:sym typeface="Helvetica Neue"/>
              </a:rPr>
              <a:t>Servicepoort 80 → targetPort 80 → nginx-container</a:t>
            </a:r>
            <a:endParaRPr/>
          </a:p>
        </p:txBody>
      </p:sp>
      <p:sp>
        <p:nvSpPr>
          <p:cNvPr id="251" name="Google Shape;251;p11"/>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De Service routeert verkeer; de Deployment beheert Pods.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2"/>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Ingress: je hostname naar de applicatie</a:t>
            </a:r>
            <a:endParaRPr/>
          </a:p>
        </p:txBody>
      </p:sp>
      <p:sp>
        <p:nvSpPr>
          <p:cNvPr id="258" name="Google Shape;258;p12"/>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259" name="Google Shape;259;p12"/>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12</a:t>
            </a:r>
            <a:endParaRPr/>
          </a:p>
        </p:txBody>
      </p:sp>
      <p:sp>
        <p:nvSpPr>
          <p:cNvPr id="260" name="Google Shape;260;p12"/>
          <p:cNvSpPr/>
          <p:nvPr/>
        </p:nvSpPr>
        <p:spPr>
          <a:xfrm>
            <a:off x="533400" y="3048000"/>
            <a:ext cx="2400300" cy="10668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685800" y="3143250"/>
            <a:ext cx="20955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Browser</a:t>
            </a:r>
            <a:endParaRPr/>
          </a:p>
        </p:txBody>
      </p:sp>
      <p:sp>
        <p:nvSpPr>
          <p:cNvPr id="262" name="Google Shape;262;p12"/>
          <p:cNvSpPr/>
          <p:nvPr/>
        </p:nvSpPr>
        <p:spPr>
          <a:xfrm>
            <a:off x="685800" y="3552825"/>
            <a:ext cx="20955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Hostname via DNS</a:t>
            </a:r>
            <a:endParaRPr/>
          </a:p>
        </p:txBody>
      </p:sp>
      <p:sp>
        <p:nvSpPr>
          <p:cNvPr id="263" name="Google Shape;263;p12"/>
          <p:cNvSpPr/>
          <p:nvPr/>
        </p:nvSpPr>
        <p:spPr>
          <a:xfrm>
            <a:off x="3048000" y="3467100"/>
            <a:ext cx="40005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3562350" y="3048000"/>
            <a:ext cx="2667000" cy="10668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2"/>
          <p:cNvSpPr/>
          <p:nvPr/>
        </p:nvSpPr>
        <p:spPr>
          <a:xfrm>
            <a:off x="3714750" y="3143250"/>
            <a:ext cx="23622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Ingress-controller</a:t>
            </a:r>
            <a:endParaRPr/>
          </a:p>
        </p:txBody>
      </p:sp>
      <p:sp>
        <p:nvSpPr>
          <p:cNvPr id="266" name="Google Shape;266;p12"/>
          <p:cNvSpPr/>
          <p:nvPr/>
        </p:nvSpPr>
        <p:spPr>
          <a:xfrm>
            <a:off x="3714750" y="3552825"/>
            <a:ext cx="23622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Volgt de hostregel</a:t>
            </a:r>
            <a:endParaRPr/>
          </a:p>
        </p:txBody>
      </p:sp>
      <p:sp>
        <p:nvSpPr>
          <p:cNvPr id="267" name="Google Shape;267;p12"/>
          <p:cNvSpPr/>
          <p:nvPr/>
        </p:nvSpPr>
        <p:spPr>
          <a:xfrm>
            <a:off x="6334125" y="3467100"/>
            <a:ext cx="38100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6838950" y="3048000"/>
            <a:ext cx="2409825" cy="10668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6991350" y="3143250"/>
            <a:ext cx="210502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Service</a:t>
            </a:r>
            <a:endParaRPr/>
          </a:p>
        </p:txBody>
      </p:sp>
      <p:sp>
        <p:nvSpPr>
          <p:cNvPr id="270" name="Google Shape;270;p12"/>
          <p:cNvSpPr/>
          <p:nvPr/>
        </p:nvSpPr>
        <p:spPr>
          <a:xfrm>
            <a:off x="6991350" y="3552825"/>
            <a:ext cx="2105025"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Stabiele interne route</a:t>
            </a:r>
            <a:endParaRPr/>
          </a:p>
        </p:txBody>
      </p:sp>
      <p:sp>
        <p:nvSpPr>
          <p:cNvPr id="271" name="Google Shape;271;p12"/>
          <p:cNvSpPr/>
          <p:nvPr/>
        </p:nvSpPr>
        <p:spPr>
          <a:xfrm>
            <a:off x="9353550" y="3467100"/>
            <a:ext cx="34290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9810750" y="3048000"/>
            <a:ext cx="1847850" cy="10668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9963150" y="3143250"/>
            <a:ext cx="154305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Pod</a:t>
            </a:r>
            <a:endParaRPr/>
          </a:p>
        </p:txBody>
      </p:sp>
      <p:sp>
        <p:nvSpPr>
          <p:cNvPr id="274" name="Google Shape;274;p12"/>
          <p:cNvSpPr/>
          <p:nvPr/>
        </p:nvSpPr>
        <p:spPr>
          <a:xfrm>
            <a:off x="9963150" y="3552825"/>
            <a:ext cx="154305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Container</a:t>
            </a:r>
            <a:endParaRPr/>
          </a:p>
        </p:txBody>
      </p:sp>
      <p:sp>
        <p:nvSpPr>
          <p:cNvPr id="275" name="Google Shape;275;p12"/>
          <p:cNvSpPr/>
          <p:nvPr/>
        </p:nvSpPr>
        <p:spPr>
          <a:xfrm>
            <a:off x="3562350" y="1638300"/>
            <a:ext cx="2667000" cy="94297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3714750" y="1733550"/>
            <a:ext cx="23622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Ingress-regel</a:t>
            </a:r>
            <a:endParaRPr/>
          </a:p>
        </p:txBody>
      </p:sp>
      <p:sp>
        <p:nvSpPr>
          <p:cNvPr id="277" name="Google Shape;277;p12"/>
          <p:cNvSpPr/>
          <p:nvPr/>
        </p:nvSpPr>
        <p:spPr>
          <a:xfrm>
            <a:off x="3714750" y="2143125"/>
            <a:ext cx="2362200" cy="371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Host → Service :80</a:t>
            </a:r>
            <a:endParaRPr/>
          </a:p>
        </p:txBody>
      </p:sp>
      <p:sp>
        <p:nvSpPr>
          <p:cNvPr id="278" name="Google Shape;278;p12"/>
          <p:cNvSpPr/>
          <p:nvPr/>
        </p:nvSpPr>
        <p:spPr>
          <a:xfrm>
            <a:off x="4733925" y="2657475"/>
            <a:ext cx="228600" cy="314325"/>
          </a:xfrm>
          <a:prstGeom prst="down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533400" y="4781550"/>
            <a:ext cx="11125200" cy="552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a:p>
        </p:txBody>
      </p:sp>
      <p:sp>
        <p:nvSpPr>
          <p:cNvPr id="280" name="Google Shape;280;p12"/>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13"/>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ConfigMap: je eigen HTML in nginx</a:t>
            </a:r>
            <a:endParaRPr/>
          </a:p>
        </p:txBody>
      </p:sp>
      <p:sp>
        <p:nvSpPr>
          <p:cNvPr id="287" name="Google Shape;287;p13"/>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Context</a:t>
            </a:r>
            <a:endParaRPr/>
          </a:p>
        </p:txBody>
      </p:sp>
      <p:sp>
        <p:nvSpPr>
          <p:cNvPr id="288" name="Google Shape;288;p13"/>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13</a:t>
            </a:r>
            <a:endParaRPr/>
          </a:p>
        </p:txBody>
      </p:sp>
      <p:sp>
        <p:nvSpPr>
          <p:cNvPr id="289" name="Google Shape;289;p13"/>
          <p:cNvSpPr/>
          <p:nvPr/>
        </p:nvSpPr>
        <p:spPr>
          <a:xfrm>
            <a:off x="533400" y="1876425"/>
            <a:ext cx="3429000" cy="12573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685800" y="1971675"/>
            <a:ext cx="31242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ConfigMap</a:t>
            </a:r>
            <a:endParaRPr/>
          </a:p>
        </p:txBody>
      </p:sp>
      <p:sp>
        <p:nvSpPr>
          <p:cNvPr id="291" name="Google Shape;291;p13"/>
          <p:cNvSpPr/>
          <p:nvPr/>
        </p:nvSpPr>
        <p:spPr>
          <a:xfrm>
            <a:off x="685800" y="2381250"/>
            <a:ext cx="3124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index.html</a:t>
            </a:r>
            <a:endParaRPr/>
          </a:p>
        </p:txBody>
      </p:sp>
      <p:sp>
        <p:nvSpPr>
          <p:cNvPr id="292" name="Google Shape;292;p13"/>
          <p:cNvSpPr/>
          <p:nvPr/>
        </p:nvSpPr>
        <p:spPr>
          <a:xfrm>
            <a:off x="533400" y="4171950"/>
            <a:ext cx="3429000" cy="11811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685800" y="4267200"/>
            <a:ext cx="31242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Deployment</a:t>
            </a:r>
            <a:endParaRPr/>
          </a:p>
        </p:txBody>
      </p:sp>
      <p:sp>
        <p:nvSpPr>
          <p:cNvPr id="294" name="Google Shape;294;p13"/>
          <p:cNvSpPr/>
          <p:nvPr/>
        </p:nvSpPr>
        <p:spPr>
          <a:xfrm>
            <a:off x="685800" y="4676775"/>
            <a:ext cx="312420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Verwijst naar de ConfigMap</a:t>
            </a:r>
            <a:endParaRPr/>
          </a:p>
        </p:txBody>
      </p:sp>
      <p:sp>
        <p:nvSpPr>
          <p:cNvPr id="295" name="Google Shape;295;p13"/>
          <p:cNvSpPr/>
          <p:nvPr/>
        </p:nvSpPr>
        <p:spPr>
          <a:xfrm>
            <a:off x="2085975" y="3286125"/>
            <a:ext cx="228600" cy="676275"/>
          </a:xfrm>
          <a:prstGeom prst="up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5305425" y="1876425"/>
            <a:ext cx="6353175" cy="347662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5524500" y="2028825"/>
            <a:ext cx="5905500" cy="4476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400">
                <a:solidFill>
                  <a:srgbClr val="12677E"/>
                </a:solidFill>
                <a:latin typeface="Helvetica Neue"/>
                <a:ea typeface="Helvetica Neue"/>
                <a:cs typeface="Helvetica Neue"/>
                <a:sym typeface="Helvetica Neue"/>
              </a:rPr>
              <a:t>Pod met nginx-container</a:t>
            </a:r>
            <a:endParaRPr/>
          </a:p>
        </p:txBody>
      </p:sp>
      <p:sp>
        <p:nvSpPr>
          <p:cNvPr id="298" name="Google Shape;298;p13"/>
          <p:cNvSpPr/>
          <p:nvPr/>
        </p:nvSpPr>
        <p:spPr>
          <a:xfrm>
            <a:off x="5524500" y="2771775"/>
            <a:ext cx="5905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32F40"/>
                </a:solidFill>
                <a:latin typeface="Consolas"/>
                <a:ea typeface="Consolas"/>
                <a:cs typeface="Consolas"/>
                <a:sym typeface="Consolas"/>
              </a:rPr>
              <a:t>/usr/share/nginx/html/</a:t>
            </a:r>
            <a:endParaRPr/>
          </a:p>
        </p:txBody>
      </p:sp>
      <p:sp>
        <p:nvSpPr>
          <p:cNvPr id="299" name="Google Shape;299;p13"/>
          <p:cNvSpPr/>
          <p:nvPr/>
        </p:nvSpPr>
        <p:spPr>
          <a:xfrm>
            <a:off x="5743575" y="3590925"/>
            <a:ext cx="5467350" cy="1181100"/>
          </a:xfrm>
          <a:prstGeom prst="rect">
            <a:avLst/>
          </a:prstGeom>
          <a:solidFill>
            <a:srgbClr val="F0F5F7"/>
          </a:solidFill>
          <a:ln cap="flat" cmpd="sng" w="19050">
            <a:solidFill>
              <a:srgbClr val="237A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5895975" y="3686175"/>
            <a:ext cx="516255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237A56"/>
                </a:solidFill>
                <a:latin typeface="Helvetica Neue"/>
                <a:ea typeface="Helvetica Neue"/>
                <a:cs typeface="Helvetica Neue"/>
                <a:sym typeface="Helvetica Neue"/>
              </a:rPr>
              <a:t>index.html</a:t>
            </a:r>
            <a:endParaRPr/>
          </a:p>
        </p:txBody>
      </p:sp>
      <p:sp>
        <p:nvSpPr>
          <p:cNvPr id="301" name="Google Shape;301;p13"/>
          <p:cNvSpPr/>
          <p:nvPr/>
        </p:nvSpPr>
        <p:spPr>
          <a:xfrm>
            <a:off x="5895975" y="4095750"/>
            <a:ext cx="5162550"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Backend Workshop</a:t>
            </a:r>
            <a:endParaRPr/>
          </a:p>
        </p:txBody>
      </p:sp>
      <p:sp>
        <p:nvSpPr>
          <p:cNvPr id="302" name="Google Shape;302;p13"/>
          <p:cNvSpPr/>
          <p:nvPr/>
        </p:nvSpPr>
        <p:spPr>
          <a:xfrm>
            <a:off x="4210050" y="2390775"/>
            <a:ext cx="83820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4143375" y="2714625"/>
            <a:ext cx="1114425" cy="371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53616B"/>
                </a:solidFill>
                <a:latin typeface="Helvetica Neue"/>
                <a:ea typeface="Helvetica Neue"/>
                <a:cs typeface="Helvetica Neue"/>
                <a:sym typeface="Helvetica Neue"/>
              </a:rPr>
              <a:t>bestand</a:t>
            </a:r>
            <a:endParaRPr/>
          </a:p>
        </p:txBody>
      </p:sp>
      <p:sp>
        <p:nvSpPr>
          <p:cNvPr id="304" name="Google Shape;304;p13"/>
          <p:cNvSpPr/>
          <p:nvPr/>
        </p:nvSpPr>
        <p:spPr>
          <a:xfrm>
            <a:off x="4200525" y="4552950"/>
            <a:ext cx="847725"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4200525" y="4886325"/>
            <a:ext cx="1000125" cy="3333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53616B"/>
                </a:solidFill>
                <a:latin typeface="Helvetica Neue"/>
                <a:ea typeface="Helvetica Neue"/>
                <a:cs typeface="Helvetica Neue"/>
                <a:sym typeface="Helvetica Neue"/>
              </a:rPr>
              <a:t>mount</a:t>
            </a:r>
            <a:endParaRPr/>
          </a:p>
        </p:txBody>
      </p:sp>
      <p:sp>
        <p:nvSpPr>
          <p:cNvPr id="306" name="Google Shape;306;p13"/>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Dezelfde image, eigen HTML. ConfigMap en Pod staan in dezelfde namespace.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14"/>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Stap 1 begint: een bestaande image</a:t>
            </a:r>
            <a:endParaRPr/>
          </a:p>
        </p:txBody>
      </p:sp>
      <p:sp>
        <p:nvSpPr>
          <p:cNvPr id="313" name="Google Shape;313;p14"/>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1</a:t>
            </a:r>
            <a:endParaRPr/>
          </a:p>
        </p:txBody>
      </p:sp>
      <p:sp>
        <p:nvSpPr>
          <p:cNvPr id="314" name="Google Shape;314;p14"/>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14</a:t>
            </a:r>
            <a:endParaRPr/>
          </a:p>
        </p:txBody>
      </p:sp>
      <p:sp>
        <p:nvSpPr>
          <p:cNvPr id="315" name="Google Shape;315;p14"/>
          <p:cNvSpPr/>
          <p:nvPr/>
        </p:nvSpPr>
        <p:spPr>
          <a:xfrm>
            <a:off x="857250" y="1828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237A56"/>
                </a:solidFill>
                <a:latin typeface="Helvetica Neue"/>
                <a:ea typeface="Helvetica Neue"/>
                <a:cs typeface="Helvetica Neue"/>
                <a:sym typeface="Helvetica Neue"/>
              </a:rPr>
              <a:t>SAS en Kubernetes</a:t>
            </a:r>
            <a:endParaRPr/>
          </a:p>
        </p:txBody>
      </p:sp>
      <p:sp>
        <p:nvSpPr>
          <p:cNvPr id="316" name="Google Shape;316;p14"/>
          <p:cNvSpPr/>
          <p:nvPr/>
        </p:nvSpPr>
        <p:spPr>
          <a:xfrm>
            <a:off x="6334125" y="1828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237A56"/>
                </a:solidFill>
                <a:latin typeface="Helvetica Neue"/>
                <a:ea typeface="Helvetica Neue"/>
                <a:cs typeface="Helvetica Neue"/>
                <a:sym typeface="Helvetica Neue"/>
              </a:rPr>
              <a:t>Begrijpen wat er draait</a:t>
            </a:r>
            <a:endParaRPr/>
          </a:p>
        </p:txBody>
      </p:sp>
      <p:sp>
        <p:nvSpPr>
          <p:cNvPr id="317" name="Google Shape;317;p14"/>
          <p:cNvSpPr/>
          <p:nvPr/>
        </p:nvSpPr>
        <p:spPr>
          <a:xfrm>
            <a:off x="2952750" y="2390775"/>
            <a:ext cx="228600" cy="257175"/>
          </a:xfrm>
          <a:prstGeom prst="downArrow">
            <a:avLst>
              <a:gd fmla="val 50000" name="adj1"/>
              <a:gd fmla="val 50000" name="adj2"/>
            </a:avLst>
          </a:prstGeom>
          <a:solidFill>
            <a:srgbClr val="237A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4"/>
          <p:cNvSpPr/>
          <p:nvPr/>
        </p:nvSpPr>
        <p:spPr>
          <a:xfrm>
            <a:off x="857250" y="2781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12677E"/>
                </a:solidFill>
                <a:latin typeface="Helvetica Neue"/>
                <a:ea typeface="Helvetica Neue"/>
                <a:cs typeface="Helvetica Neue"/>
                <a:sym typeface="Helvetica Neue"/>
              </a:rPr>
              <a:t>1  Bestaande image</a:t>
            </a:r>
            <a:endParaRPr/>
          </a:p>
        </p:txBody>
      </p:sp>
      <p:sp>
        <p:nvSpPr>
          <p:cNvPr id="319" name="Google Shape;319;p14"/>
          <p:cNvSpPr/>
          <p:nvPr/>
        </p:nvSpPr>
        <p:spPr>
          <a:xfrm>
            <a:off x="6334125" y="2781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12677E"/>
                </a:solidFill>
                <a:latin typeface="Helvetica Neue"/>
                <a:ea typeface="Helvetica Neue"/>
                <a:cs typeface="Helvetica Neue"/>
                <a:sym typeface="Helvetica Neue"/>
              </a:rPr>
              <a:t>ConfigMap, Deployment, Service, Ingress</a:t>
            </a:r>
            <a:endParaRPr/>
          </a:p>
        </p:txBody>
      </p:sp>
      <p:sp>
        <p:nvSpPr>
          <p:cNvPr id="320" name="Google Shape;320;p14"/>
          <p:cNvSpPr/>
          <p:nvPr/>
        </p:nvSpPr>
        <p:spPr>
          <a:xfrm>
            <a:off x="2952750" y="3343275"/>
            <a:ext cx="228600" cy="257175"/>
          </a:xfrm>
          <a:prstGeom prst="downArrow">
            <a:avLst>
              <a:gd fmla="val 50000" name="adj1"/>
              <a:gd fmla="val 50000" name="adj2"/>
            </a:avLst>
          </a:prstGeom>
          <a:solidFill>
            <a:srgbClr val="1267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857250" y="3733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53616B"/>
                </a:solidFill>
                <a:latin typeface="Helvetica Neue"/>
                <a:ea typeface="Helvetica Neue"/>
                <a:cs typeface="Helvetica Neue"/>
                <a:sym typeface="Helvetica Neue"/>
              </a:rPr>
              <a:t>2  Eigen image</a:t>
            </a:r>
            <a:endParaRPr/>
          </a:p>
        </p:txBody>
      </p:sp>
      <p:sp>
        <p:nvSpPr>
          <p:cNvPr id="322" name="Google Shape;322;p14"/>
          <p:cNvSpPr/>
          <p:nvPr/>
        </p:nvSpPr>
        <p:spPr>
          <a:xfrm>
            <a:off x="6334125" y="3733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53616B"/>
                </a:solidFill>
                <a:latin typeface="Helvetica Neue"/>
                <a:ea typeface="Helvetica Neue"/>
                <a:cs typeface="Helvetica Neue"/>
                <a:sym typeface="Helvetica Neue"/>
              </a:rPr>
              <a:t>Zelf bouwen en zelf deployen</a:t>
            </a:r>
            <a:endParaRPr/>
          </a:p>
        </p:txBody>
      </p:sp>
      <p:sp>
        <p:nvSpPr>
          <p:cNvPr id="323" name="Google Shape;323;p14"/>
          <p:cNvSpPr/>
          <p:nvPr/>
        </p:nvSpPr>
        <p:spPr>
          <a:xfrm>
            <a:off x="2952750" y="4295775"/>
            <a:ext cx="228600" cy="257175"/>
          </a:xfrm>
          <a:prstGeom prst="downArrow">
            <a:avLst>
              <a:gd fmla="val 50000" name="adj1"/>
              <a:gd fmla="val 50000" name="adj2"/>
            </a:avLst>
          </a:prstGeom>
          <a:solidFill>
            <a:srgbClr val="5361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4"/>
          <p:cNvSpPr/>
          <p:nvPr/>
        </p:nvSpPr>
        <p:spPr>
          <a:xfrm>
            <a:off x="857250" y="4686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53616B"/>
                </a:solidFill>
                <a:latin typeface="Helvetica Neue"/>
                <a:ea typeface="Helvetica Neue"/>
                <a:cs typeface="Helvetica Neue"/>
                <a:sym typeface="Helvetica Neue"/>
              </a:rPr>
              <a:t>3  Controleren</a:t>
            </a:r>
            <a:endParaRPr/>
          </a:p>
        </p:txBody>
      </p:sp>
      <p:sp>
        <p:nvSpPr>
          <p:cNvPr id="325" name="Google Shape;325;p14"/>
          <p:cNvSpPr/>
          <p:nvPr/>
        </p:nvSpPr>
        <p:spPr>
          <a:xfrm>
            <a:off x="6334125" y="4686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53616B"/>
                </a:solidFill>
                <a:latin typeface="Helvetica Neue"/>
                <a:ea typeface="Helvetica Neue"/>
                <a:cs typeface="Helvetica Neue"/>
                <a:sym typeface="Helvetica Neue"/>
              </a:rPr>
              <a:t>Resultaat en verklaring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15"/>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Zelf doen: je eigen map en bestanden</a:t>
            </a:r>
            <a:endParaRPr/>
          </a:p>
        </p:txBody>
      </p:sp>
      <p:sp>
        <p:nvSpPr>
          <p:cNvPr id="332" name="Google Shape;332;p15"/>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1</a:t>
            </a:r>
            <a:endParaRPr/>
          </a:p>
        </p:txBody>
      </p:sp>
      <p:sp>
        <p:nvSpPr>
          <p:cNvPr id="333" name="Google Shape;333;p15"/>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15</a:t>
            </a:r>
            <a:endParaRPr/>
          </a:p>
        </p:txBody>
      </p:sp>
      <p:sp>
        <p:nvSpPr>
          <p:cNvPr id="334" name="Google Shape;334;p15"/>
          <p:cNvSpPr/>
          <p:nvPr/>
        </p:nvSpPr>
        <p:spPr>
          <a:xfrm>
            <a:off x="533400" y="1724025"/>
            <a:ext cx="4762500" cy="2562225"/>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742950" y="1866900"/>
            <a:ext cx="4286250" cy="22574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FFFFFF"/>
                </a:solidFill>
                <a:latin typeface="Consolas"/>
                <a:ea typeface="Consolas"/>
                <a:cs typeface="Consolas"/>
                <a:sym typeface="Consolas"/>
              </a:rPr>
              <a:t>cd ~</a:t>
            </a:r>
            <a:endParaRPr/>
          </a:p>
          <a:p>
            <a:pPr indent="0" lvl="0" marL="0" marR="0" rtl="0" algn="l">
              <a:spcBef>
                <a:spcPts val="0"/>
              </a:spcBef>
              <a:spcAft>
                <a:spcPts val="0"/>
              </a:spcAft>
              <a:buNone/>
            </a:pPr>
            <a:r>
              <a:rPr b="0" lang="en-US" sz="2025">
                <a:solidFill>
                  <a:srgbClr val="FFFFFF"/>
                </a:solidFill>
                <a:latin typeface="Consolas"/>
                <a:ea typeface="Consolas"/>
                <a:cs typeface="Consolas"/>
                <a:sym typeface="Consolas"/>
              </a:rPr>
              <a:t>cd workshop/nginx</a:t>
            </a:r>
            <a:endParaRPr/>
          </a:p>
          <a:p>
            <a:pPr indent="0" lvl="0" marL="0" marR="0" rtl="0" algn="l">
              <a:spcBef>
                <a:spcPts val="0"/>
              </a:spcBef>
              <a:spcAft>
                <a:spcPts val="0"/>
              </a:spcAft>
              <a:buNone/>
            </a:pPr>
            <a:r>
              <a:rPr b="0" lang="en-US" sz="2025">
                <a:solidFill>
                  <a:srgbClr val="FFFFFF"/>
                </a:solidFill>
                <a:latin typeface="Consolas"/>
                <a:ea typeface="Consolas"/>
                <a:cs typeface="Consolas"/>
                <a:sym typeface="Consolas"/>
              </a:rPr>
              <a:t>mkdir wenjie</a:t>
            </a:r>
            <a:endParaRPr/>
          </a:p>
          <a:p>
            <a:pPr indent="0" lvl="0" marL="0" marR="0" rtl="0" algn="l">
              <a:spcBef>
                <a:spcPts val="0"/>
              </a:spcBef>
              <a:spcAft>
                <a:spcPts val="0"/>
              </a:spcAft>
              <a:buNone/>
            </a:pPr>
            <a:r>
              <a:rPr b="0" lang="en-US" sz="2025">
                <a:solidFill>
                  <a:srgbClr val="FFFFFF"/>
                </a:solidFill>
                <a:latin typeface="Consolas"/>
                <a:ea typeface="Consolas"/>
                <a:cs typeface="Consolas"/>
                <a:sym typeface="Consolas"/>
              </a:rPr>
              <a:t>cp *.yaml wenjie/</a:t>
            </a:r>
            <a:endParaRPr/>
          </a:p>
          <a:p>
            <a:pPr indent="0" lvl="0" marL="0" marR="0" rtl="0" algn="l">
              <a:spcBef>
                <a:spcPts val="0"/>
              </a:spcBef>
              <a:spcAft>
                <a:spcPts val="0"/>
              </a:spcAft>
              <a:buNone/>
            </a:pPr>
            <a:r>
              <a:rPr b="0" lang="en-US" sz="2025">
                <a:solidFill>
                  <a:srgbClr val="FFFFFF"/>
                </a:solidFill>
                <a:latin typeface="Consolas"/>
                <a:ea typeface="Consolas"/>
                <a:cs typeface="Consolas"/>
                <a:sym typeface="Consolas"/>
              </a:rPr>
              <a:t>cd wenjie</a:t>
            </a:r>
            <a:endParaRPr/>
          </a:p>
        </p:txBody>
      </p:sp>
      <p:sp>
        <p:nvSpPr>
          <p:cNvPr id="336" name="Google Shape;336;p15"/>
          <p:cNvSpPr/>
          <p:nvPr/>
        </p:nvSpPr>
        <p:spPr>
          <a:xfrm>
            <a:off x="533400" y="4438650"/>
            <a:ext cx="481965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950">
                <a:solidFill>
                  <a:srgbClr val="12677E"/>
                </a:solidFill>
                <a:latin typeface="Helvetica Neue"/>
                <a:ea typeface="Helvetica Neue"/>
                <a:cs typeface="Helvetica Neue"/>
                <a:sym typeface="Helvetica Neue"/>
              </a:rPr>
              <a:t>Vervang wenjie door jouw naam</a:t>
            </a:r>
            <a:endParaRPr/>
          </a:p>
        </p:txBody>
      </p:sp>
      <p:sp>
        <p:nvSpPr>
          <p:cNvPr id="337" name="Google Shape;337;p15"/>
          <p:cNvSpPr/>
          <p:nvPr/>
        </p:nvSpPr>
        <p:spPr>
          <a:xfrm>
            <a:off x="5772150" y="1724025"/>
            <a:ext cx="5848350" cy="6286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32F40"/>
                </a:solidFill>
                <a:latin typeface="Helvetica Neue"/>
                <a:ea typeface="Helvetica Neue"/>
                <a:cs typeface="Helvetica Neue"/>
                <a:sym typeface="Helvetica Neue"/>
              </a:rPr>
              <a:t>Bewerk jouw vier YAML-bestanden</a:t>
            </a:r>
            <a:endParaRPr/>
          </a:p>
        </p:txBody>
      </p:sp>
      <p:sp>
        <p:nvSpPr>
          <p:cNvPr id="338" name="Google Shape;338;p15"/>
          <p:cNvSpPr/>
          <p:nvPr/>
        </p:nvSpPr>
        <p:spPr>
          <a:xfrm>
            <a:off x="5772150" y="2381250"/>
            <a:ext cx="5848350"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configmap · deployment · service · ingress</a:t>
            </a:r>
            <a:endParaRPr/>
          </a:p>
        </p:txBody>
      </p:sp>
      <p:sp>
        <p:nvSpPr>
          <p:cNvPr id="339" name="Google Shape;339;p15"/>
          <p:cNvSpPr/>
          <p:nvPr/>
        </p:nvSpPr>
        <p:spPr>
          <a:xfrm>
            <a:off x="5772150" y="2914650"/>
            <a:ext cx="5753100" cy="7334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132F40"/>
                </a:solidFill>
                <a:latin typeface="Helvetica Neue"/>
                <a:ea typeface="Helvetica Neue"/>
                <a:cs typeface="Helvetica Neue"/>
                <a:sym typeface="Helvetica Neue"/>
              </a:rPr>
              <a:t>Vervang overal &lt;naam&gt;.</a:t>
            </a:r>
            <a:endParaRPr/>
          </a:p>
          <a:p>
            <a:pPr indent="0" lvl="0" marL="0" marR="0" rtl="0" algn="l">
              <a:spcBef>
                <a:spcPts val="0"/>
              </a:spcBef>
              <a:spcAft>
                <a:spcPts val="0"/>
              </a:spcAft>
              <a:buNone/>
            </a:pPr>
            <a:r>
              <a:rPr b="0" lang="en-US" sz="2025">
                <a:solidFill>
                  <a:srgbClr val="132F40"/>
                </a:solidFill>
                <a:latin typeface="Helvetica Neue"/>
                <a:ea typeface="Helvetica Neue"/>
                <a:cs typeface="Helvetica Neue"/>
                <a:sym typeface="Helvetica Neue"/>
              </a:rPr>
              <a:t>Controleer namen en verwijzingen.</a:t>
            </a:r>
            <a:endParaRPr/>
          </a:p>
        </p:txBody>
      </p:sp>
      <p:sp>
        <p:nvSpPr>
          <p:cNvPr id="340" name="Google Shape;340;p15"/>
          <p:cNvSpPr/>
          <p:nvPr/>
        </p:nvSpPr>
        <p:spPr>
          <a:xfrm>
            <a:off x="5772150" y="3857625"/>
            <a:ext cx="5753100" cy="12096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132F40"/>
                </a:solidFill>
                <a:latin typeface="Helvetica Neue"/>
                <a:ea typeface="Helvetica Neue"/>
                <a:cs typeface="Helvetica Neue"/>
                <a:sym typeface="Helvetica Neue"/>
              </a:rPr>
              <a:t>Vim: direct in de terminal</a:t>
            </a:r>
            <a:endParaRPr/>
          </a:p>
          <a:p>
            <a:pPr indent="0" lvl="0" marL="0" marR="0" rtl="0" algn="l">
              <a:spcBef>
                <a:spcPts val="0"/>
              </a:spcBef>
              <a:spcAft>
                <a:spcPts val="0"/>
              </a:spcAft>
              <a:buNone/>
            </a:pPr>
            <a:r>
              <a:rPr b="0" lang="en-US" sz="1950">
                <a:solidFill>
                  <a:srgbClr val="132F40"/>
                </a:solidFill>
                <a:latin typeface="Helvetica Neue"/>
                <a:ea typeface="Helvetica Neue"/>
                <a:cs typeface="Helvetica Neue"/>
                <a:sym typeface="Helvetica Neue"/>
              </a:rPr>
              <a:t>Of: downloaden → lokaal bewerken</a:t>
            </a:r>
            <a:endParaRPr/>
          </a:p>
          <a:p>
            <a:pPr indent="0" lvl="0" marL="0" marR="0" rtl="0" algn="l">
              <a:spcBef>
                <a:spcPts val="0"/>
              </a:spcBef>
              <a:spcAft>
                <a:spcPts val="0"/>
              </a:spcAft>
              <a:buNone/>
            </a:pPr>
            <a:r>
              <a:rPr b="0" lang="en-US" sz="1950">
                <a:solidFill>
                  <a:srgbClr val="132F40"/>
                </a:solidFill>
                <a:latin typeface="Helvetica Neue"/>
                <a:ea typeface="Helvetica Neue"/>
                <a:cs typeface="Helvetica Neue"/>
                <a:sym typeface="Helvetica Neue"/>
              </a:rPr>
              <a:t>→ terug uploaden met SFTP</a:t>
            </a:r>
            <a:endParaRPr/>
          </a:p>
        </p:txBody>
      </p:sp>
      <p:sp>
        <p:nvSpPr>
          <p:cNvPr id="341" name="Google Shape;341;p15"/>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Eerst opslaan / uploaden. Daarna pas kubectl apply vanuit je eigen map.</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16"/>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Zelf doen: deployen en Pods controleren</a:t>
            </a:r>
            <a:endParaRPr/>
          </a:p>
        </p:txBody>
      </p:sp>
      <p:sp>
        <p:nvSpPr>
          <p:cNvPr id="348" name="Google Shape;348;p16"/>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1</a:t>
            </a:r>
            <a:endParaRPr/>
          </a:p>
        </p:txBody>
      </p:sp>
      <p:sp>
        <p:nvSpPr>
          <p:cNvPr id="349" name="Google Shape;349;p16"/>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16</a:t>
            </a:r>
            <a:endParaRPr/>
          </a:p>
        </p:txBody>
      </p:sp>
      <p:sp>
        <p:nvSpPr>
          <p:cNvPr id="350" name="Google Shape;350;p16"/>
          <p:cNvSpPr/>
          <p:nvPr/>
        </p:nvSpPr>
        <p:spPr>
          <a:xfrm>
            <a:off x="533400" y="1809750"/>
            <a:ext cx="11125200" cy="3000375"/>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6"/>
          <p:cNvSpPr/>
          <p:nvPr/>
        </p:nvSpPr>
        <p:spPr>
          <a:xfrm>
            <a:off x="693075" y="1971713"/>
            <a:ext cx="10668000" cy="265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apply -f .</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get pods -o wide</a:t>
            </a:r>
            <a:endParaRPr/>
          </a:p>
        </p:txBody>
      </p:sp>
      <p:sp>
        <p:nvSpPr>
          <p:cNvPr id="352" name="Google Shape;352;p16"/>
          <p:cNvSpPr/>
          <p:nvPr/>
        </p:nvSpPr>
        <p:spPr>
          <a:xfrm>
            <a:off x="533400" y="5114925"/>
            <a:ext cx="11125200" cy="10001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Vanuit workshop/nginx/jouw-naam</a:t>
            </a:r>
            <a:endParaRPr/>
          </a:p>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Checkpoint 1 · jouw Pod: Running en 1/1 Ready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17"/>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Controleren: Service</a:t>
            </a:r>
            <a:endParaRPr/>
          </a:p>
        </p:txBody>
      </p:sp>
      <p:sp>
        <p:nvSpPr>
          <p:cNvPr id="359" name="Google Shape;359;p17"/>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1</a:t>
            </a:r>
            <a:endParaRPr/>
          </a:p>
        </p:txBody>
      </p:sp>
      <p:sp>
        <p:nvSpPr>
          <p:cNvPr id="360" name="Google Shape;360;p17"/>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17</a:t>
            </a:r>
            <a:endParaRPr/>
          </a:p>
        </p:txBody>
      </p:sp>
      <p:sp>
        <p:nvSpPr>
          <p:cNvPr id="361" name="Google Shape;361;p17"/>
          <p:cNvSpPr/>
          <p:nvPr/>
        </p:nvSpPr>
        <p:spPr>
          <a:xfrm>
            <a:off x="533400" y="1809750"/>
            <a:ext cx="11125200" cy="3000375"/>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7"/>
          <p:cNvSpPr/>
          <p:nvPr/>
        </p:nvSpPr>
        <p:spPr>
          <a:xfrm>
            <a:off x="762000" y="1981200"/>
            <a:ext cx="10668000" cy="2657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get svc</a:t>
            </a:r>
            <a:endParaRPr/>
          </a:p>
        </p:txBody>
      </p:sp>
      <p:sp>
        <p:nvSpPr>
          <p:cNvPr id="363" name="Google Shape;363;p17"/>
          <p:cNvSpPr/>
          <p:nvPr/>
        </p:nvSpPr>
        <p:spPr>
          <a:xfrm>
            <a:off x="533400" y="5114925"/>
            <a:ext cx="11125200" cy="10001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Zoek nginx-demo-service-jouw-naam</a:t>
            </a:r>
            <a:endParaRPr/>
          </a:p>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Verwacht: ClusterIP · poort 80/TCP</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18"/>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Controleren: je eigen website</a:t>
            </a:r>
            <a:endParaRPr/>
          </a:p>
        </p:txBody>
      </p:sp>
      <p:sp>
        <p:nvSpPr>
          <p:cNvPr id="370" name="Google Shape;370;p18"/>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1</a:t>
            </a:r>
            <a:endParaRPr/>
          </a:p>
        </p:txBody>
      </p:sp>
      <p:sp>
        <p:nvSpPr>
          <p:cNvPr id="371" name="Google Shape;371;p18"/>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18</a:t>
            </a:r>
            <a:endParaRPr/>
          </a:p>
        </p:txBody>
      </p:sp>
      <p:sp>
        <p:nvSpPr>
          <p:cNvPr id="372" name="Google Shape;372;p18"/>
          <p:cNvSpPr/>
          <p:nvPr/>
        </p:nvSpPr>
        <p:spPr>
          <a:xfrm>
            <a:off x="533400" y="1619250"/>
            <a:ext cx="111252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2677E"/>
                </a:solidFill>
                <a:latin typeface="Helvetica Neue"/>
                <a:ea typeface="Helvetica Neue"/>
                <a:cs typeface="Helvetica Neue"/>
                <a:sym typeface="Helvetica Neue"/>
              </a:rPr>
              <a:t>Open je eigen Ingress-URL in de browser</a:t>
            </a:r>
            <a:endParaRPr/>
          </a:p>
        </p:txBody>
      </p:sp>
      <p:sp>
        <p:nvSpPr>
          <p:cNvPr id="373" name="Google Shape;373;p18"/>
          <p:cNvSpPr/>
          <p:nvPr/>
        </p:nvSpPr>
        <p:spPr>
          <a:xfrm>
            <a:off x="533400" y="2333625"/>
            <a:ext cx="11125200" cy="3048000"/>
          </a:xfrm>
          <a:prstGeom prst="roundRect">
            <a:avLst>
              <a:gd fmla="val 2500" name="adj"/>
            </a:avLst>
          </a:prstGeom>
          <a:solidFill>
            <a:srgbClr val="EEF2F7"/>
          </a:solidFill>
          <a:ln cap="flat" cmpd="sng" w="19050">
            <a:solidFill>
              <a:srgbClr val="D1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542925" y="2352675"/>
            <a:ext cx="11106150" cy="552450"/>
          </a:xfrm>
          <a:prstGeom prst="rect">
            <a:avLst/>
          </a:prstGeom>
          <a:solidFill>
            <a:srgbClr val="E3E9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p:nvPr/>
        </p:nvSpPr>
        <p:spPr>
          <a:xfrm>
            <a:off x="733425" y="2552700"/>
            <a:ext cx="114300" cy="114300"/>
          </a:xfrm>
          <a:prstGeom prst="ellipse">
            <a:avLst/>
          </a:prstGeom>
          <a:solidFill>
            <a:srgbClr val="D88E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952500" y="2552700"/>
            <a:ext cx="114300" cy="114300"/>
          </a:xfrm>
          <a:prstGeom prst="ellipse">
            <a:avLst/>
          </a:prstGeom>
          <a:solidFill>
            <a:srgbClr val="DCC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1171575" y="2552700"/>
            <a:ext cx="114300" cy="114300"/>
          </a:xfrm>
          <a:prstGeom prst="ellipse">
            <a:avLst/>
          </a:prstGeom>
          <a:solidFill>
            <a:srgbClr val="86B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8"/>
          <p:cNvSpPr/>
          <p:nvPr/>
        </p:nvSpPr>
        <p:spPr>
          <a:xfrm>
            <a:off x="1552575" y="2447925"/>
            <a:ext cx="9801225" cy="342900"/>
          </a:xfrm>
          <a:prstGeom prst="roundRect">
            <a:avLst>
              <a:gd fmla="val 2222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8"/>
          <p:cNvSpPr/>
          <p:nvPr/>
        </p:nvSpPr>
        <p:spPr>
          <a:xfrm>
            <a:off x="1685925" y="2457450"/>
            <a:ext cx="9505950" cy="3143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132F40"/>
                </a:solidFill>
                <a:latin typeface="Consolas"/>
                <a:ea typeface="Consolas"/>
                <a:cs typeface="Consolas"/>
                <a:sym typeface="Consolas"/>
              </a:rPr>
              <a:t>http://nginx-web-wenjie.k8s.eom.local/</a:t>
            </a:r>
            <a:endParaRPr/>
          </a:p>
        </p:txBody>
      </p:sp>
      <p:sp>
        <p:nvSpPr>
          <p:cNvPr id="380" name="Google Shape;380;p18"/>
          <p:cNvSpPr/>
          <p:nvPr/>
        </p:nvSpPr>
        <p:spPr>
          <a:xfrm>
            <a:off x="1238250" y="3209925"/>
            <a:ext cx="9715500" cy="53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925">
                <a:solidFill>
                  <a:srgbClr val="2563EB"/>
                </a:solidFill>
                <a:latin typeface="Helvetica Neue"/>
                <a:ea typeface="Helvetica Neue"/>
                <a:cs typeface="Helvetica Neue"/>
                <a:sym typeface="Helvetica Neue"/>
              </a:rPr>
              <a:t>Backend Workshop</a:t>
            </a:r>
            <a:endParaRPr/>
          </a:p>
        </p:txBody>
      </p:sp>
      <p:sp>
        <p:nvSpPr>
          <p:cNvPr id="381" name="Google Shape;381;p18"/>
          <p:cNvSpPr/>
          <p:nvPr/>
        </p:nvSpPr>
        <p:spPr>
          <a:xfrm>
            <a:off x="1238250" y="3886200"/>
            <a:ext cx="97155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32F40"/>
                </a:solidFill>
                <a:latin typeface="Helvetica Neue"/>
                <a:ea typeface="Helvetica Neue"/>
                <a:cs typeface="Helvetica Neue"/>
                <a:sym typeface="Helvetica Neue"/>
              </a:rPr>
              <a:t>Mijn eerste Kubernetes Deployment!</a:t>
            </a:r>
            <a:endParaRPr/>
          </a:p>
        </p:txBody>
      </p:sp>
      <p:sp>
        <p:nvSpPr>
          <p:cNvPr id="382" name="Google Shape;382;p18"/>
          <p:cNvSpPr/>
          <p:nvPr/>
        </p:nvSpPr>
        <p:spPr>
          <a:xfrm>
            <a:off x="1238250" y="4495800"/>
            <a:ext cx="9715500" cy="5810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875">
                <a:solidFill>
                  <a:srgbClr val="132F40"/>
                </a:solidFill>
                <a:latin typeface="Helvetica Neue"/>
                <a:ea typeface="Helvetica Neue"/>
                <a:cs typeface="Helvetica Neue"/>
                <a:sym typeface="Helvetica Neue"/>
              </a:rPr>
              <a:t>Deze pagina draait in een NGINX-container.</a:t>
            </a:r>
            <a:endParaRPr/>
          </a:p>
          <a:p>
            <a:pPr indent="0" lvl="0" marL="0" marR="0" rtl="0" algn="l">
              <a:spcBef>
                <a:spcPts val="0"/>
              </a:spcBef>
              <a:spcAft>
                <a:spcPts val="0"/>
              </a:spcAft>
              <a:buNone/>
            </a:pPr>
            <a:r>
              <a:rPr b="0" lang="en-US" sz="1875">
                <a:solidFill>
                  <a:srgbClr val="132F40"/>
                </a:solidFill>
                <a:latin typeface="Helvetica Neue"/>
                <a:ea typeface="Helvetica Neue"/>
                <a:cs typeface="Helvetica Neue"/>
                <a:sym typeface="Helvetica Neue"/>
              </a:rPr>
              <a:t>De HTML komt uit een Kubernetes ConfigMap.</a:t>
            </a:r>
            <a:endParaRPr/>
          </a:p>
        </p:txBody>
      </p:sp>
      <p:sp>
        <p:nvSpPr>
          <p:cNvPr id="383" name="Google Shape;383;p18"/>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Checkpoint 2 · zie je de pagina? Geef een seintje.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19"/>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Stap 1 klaar: de route werkt</a:t>
            </a:r>
            <a:endParaRPr/>
          </a:p>
        </p:txBody>
      </p:sp>
      <p:sp>
        <p:nvSpPr>
          <p:cNvPr id="390" name="Google Shape;390;p19"/>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1</a:t>
            </a:r>
            <a:endParaRPr/>
          </a:p>
        </p:txBody>
      </p:sp>
      <p:sp>
        <p:nvSpPr>
          <p:cNvPr id="391" name="Google Shape;391;p19"/>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19</a:t>
            </a:r>
            <a:endParaRPr/>
          </a:p>
        </p:txBody>
      </p:sp>
      <p:sp>
        <p:nvSpPr>
          <p:cNvPr id="392" name="Google Shape;392;p19"/>
          <p:cNvSpPr/>
          <p:nvPr/>
        </p:nvSpPr>
        <p:spPr>
          <a:xfrm>
            <a:off x="857250" y="1828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237A56"/>
                </a:solidFill>
                <a:latin typeface="Helvetica Neue"/>
                <a:ea typeface="Helvetica Neue"/>
                <a:cs typeface="Helvetica Neue"/>
                <a:sym typeface="Helvetica Neue"/>
              </a:rPr>
              <a:t>SAS en Kubernetes</a:t>
            </a:r>
            <a:endParaRPr/>
          </a:p>
        </p:txBody>
      </p:sp>
      <p:sp>
        <p:nvSpPr>
          <p:cNvPr id="393" name="Google Shape;393;p19"/>
          <p:cNvSpPr/>
          <p:nvPr/>
        </p:nvSpPr>
        <p:spPr>
          <a:xfrm>
            <a:off x="6334125" y="1828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237A56"/>
                </a:solidFill>
                <a:latin typeface="Helvetica Neue"/>
                <a:ea typeface="Helvetica Neue"/>
                <a:cs typeface="Helvetica Neue"/>
                <a:sym typeface="Helvetica Neue"/>
              </a:rPr>
              <a:t>Begrijpen wat er draait</a:t>
            </a:r>
            <a:endParaRPr/>
          </a:p>
        </p:txBody>
      </p:sp>
      <p:sp>
        <p:nvSpPr>
          <p:cNvPr id="394" name="Google Shape;394;p19"/>
          <p:cNvSpPr/>
          <p:nvPr/>
        </p:nvSpPr>
        <p:spPr>
          <a:xfrm>
            <a:off x="2952750" y="2390775"/>
            <a:ext cx="228600" cy="257175"/>
          </a:xfrm>
          <a:prstGeom prst="downArrow">
            <a:avLst>
              <a:gd fmla="val 50000" name="adj1"/>
              <a:gd fmla="val 50000" name="adj2"/>
            </a:avLst>
          </a:prstGeom>
          <a:solidFill>
            <a:srgbClr val="237A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857250" y="2781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237A56"/>
                </a:solidFill>
                <a:latin typeface="Helvetica Neue"/>
                <a:ea typeface="Helvetica Neue"/>
                <a:cs typeface="Helvetica Neue"/>
                <a:sym typeface="Helvetica Neue"/>
              </a:rPr>
              <a:t>1  Bestaande image</a:t>
            </a:r>
            <a:endParaRPr/>
          </a:p>
        </p:txBody>
      </p:sp>
      <p:sp>
        <p:nvSpPr>
          <p:cNvPr id="396" name="Google Shape;396;p19"/>
          <p:cNvSpPr/>
          <p:nvPr/>
        </p:nvSpPr>
        <p:spPr>
          <a:xfrm>
            <a:off x="6334125" y="2781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237A56"/>
                </a:solidFill>
                <a:latin typeface="Helvetica Neue"/>
                <a:ea typeface="Helvetica Neue"/>
                <a:cs typeface="Helvetica Neue"/>
                <a:sym typeface="Helvetica Neue"/>
              </a:rPr>
              <a:t>ConfigMap, Deployment, Service, Ingress</a:t>
            </a:r>
            <a:endParaRPr/>
          </a:p>
        </p:txBody>
      </p:sp>
      <p:sp>
        <p:nvSpPr>
          <p:cNvPr id="397" name="Google Shape;397;p19"/>
          <p:cNvSpPr/>
          <p:nvPr/>
        </p:nvSpPr>
        <p:spPr>
          <a:xfrm>
            <a:off x="2952750" y="3343275"/>
            <a:ext cx="228600" cy="257175"/>
          </a:xfrm>
          <a:prstGeom prst="downArrow">
            <a:avLst>
              <a:gd fmla="val 50000" name="adj1"/>
              <a:gd fmla="val 50000" name="adj2"/>
            </a:avLst>
          </a:prstGeom>
          <a:solidFill>
            <a:srgbClr val="237A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857250" y="3733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53616B"/>
                </a:solidFill>
                <a:latin typeface="Helvetica Neue"/>
                <a:ea typeface="Helvetica Neue"/>
                <a:cs typeface="Helvetica Neue"/>
                <a:sym typeface="Helvetica Neue"/>
              </a:rPr>
              <a:t>2  Eigen image</a:t>
            </a:r>
            <a:endParaRPr/>
          </a:p>
        </p:txBody>
      </p:sp>
      <p:sp>
        <p:nvSpPr>
          <p:cNvPr id="399" name="Google Shape;399;p19"/>
          <p:cNvSpPr/>
          <p:nvPr/>
        </p:nvSpPr>
        <p:spPr>
          <a:xfrm>
            <a:off x="6334125" y="3733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53616B"/>
                </a:solidFill>
                <a:latin typeface="Helvetica Neue"/>
                <a:ea typeface="Helvetica Neue"/>
                <a:cs typeface="Helvetica Neue"/>
                <a:sym typeface="Helvetica Neue"/>
              </a:rPr>
              <a:t>Zelf bouwen en zelf deployen</a:t>
            </a:r>
            <a:endParaRPr/>
          </a:p>
        </p:txBody>
      </p:sp>
      <p:sp>
        <p:nvSpPr>
          <p:cNvPr id="400" name="Google Shape;400;p19"/>
          <p:cNvSpPr/>
          <p:nvPr/>
        </p:nvSpPr>
        <p:spPr>
          <a:xfrm>
            <a:off x="2952750" y="4295775"/>
            <a:ext cx="228600" cy="257175"/>
          </a:xfrm>
          <a:prstGeom prst="downArrow">
            <a:avLst>
              <a:gd fmla="val 50000" name="adj1"/>
              <a:gd fmla="val 50000" name="adj2"/>
            </a:avLst>
          </a:prstGeom>
          <a:solidFill>
            <a:srgbClr val="5361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857250" y="4686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53616B"/>
                </a:solidFill>
                <a:latin typeface="Helvetica Neue"/>
                <a:ea typeface="Helvetica Neue"/>
                <a:cs typeface="Helvetica Neue"/>
                <a:sym typeface="Helvetica Neue"/>
              </a:rPr>
              <a:t>3  Controleren</a:t>
            </a:r>
            <a:endParaRPr/>
          </a:p>
        </p:txBody>
      </p:sp>
      <p:sp>
        <p:nvSpPr>
          <p:cNvPr id="402" name="Google Shape;402;p19"/>
          <p:cNvSpPr/>
          <p:nvPr/>
        </p:nvSpPr>
        <p:spPr>
          <a:xfrm>
            <a:off x="6334125" y="4686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53616B"/>
                </a:solidFill>
                <a:latin typeface="Helvetica Neue"/>
                <a:ea typeface="Helvetica Neue"/>
                <a:cs typeface="Helvetica Neue"/>
                <a:sym typeface="Helvetica Neue"/>
              </a:rPr>
              <a:t>Resultaat en verklaring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 name="Shape 407"/>
        <p:cNvGrpSpPr/>
        <p:nvPr/>
      </p:nvGrpSpPr>
      <p:grpSpPr>
        <a:xfrm>
          <a:off x="0" y="0"/>
          <a:ext cx="0" cy="0"/>
          <a:chOff x="0" y="0"/>
          <a:chExt cx="0" cy="0"/>
        </a:xfrm>
      </p:grpSpPr>
      <p:sp>
        <p:nvSpPr>
          <p:cNvPr id="408" name="Google Shape;408;p20"/>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Docker: image bouwen, container starten</a:t>
            </a:r>
            <a:endParaRPr/>
          </a:p>
        </p:txBody>
      </p:sp>
      <p:sp>
        <p:nvSpPr>
          <p:cNvPr id="409" name="Google Shape;409;p20"/>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410" name="Google Shape;410;p20"/>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20</a:t>
            </a:r>
            <a:endParaRPr/>
          </a:p>
        </p:txBody>
      </p:sp>
      <p:sp>
        <p:nvSpPr>
          <p:cNvPr id="411" name="Google Shape;411;p20"/>
          <p:cNvSpPr/>
          <p:nvPr/>
        </p:nvSpPr>
        <p:spPr>
          <a:xfrm>
            <a:off x="533400" y="2771775"/>
            <a:ext cx="4762500" cy="1323975"/>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0"/>
          <p:cNvSpPr/>
          <p:nvPr/>
        </p:nvSpPr>
        <p:spPr>
          <a:xfrm>
            <a:off x="685800" y="2867025"/>
            <a:ext cx="44577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Image</a:t>
            </a:r>
            <a:endParaRPr/>
          </a:p>
        </p:txBody>
      </p:sp>
      <p:sp>
        <p:nvSpPr>
          <p:cNvPr id="413" name="Google Shape;413;p20"/>
          <p:cNvSpPr/>
          <p:nvPr/>
        </p:nvSpPr>
        <p:spPr>
          <a:xfrm>
            <a:off x="685800" y="3276600"/>
            <a:ext cx="4457700" cy="752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Python + app.py + startcommando</a:t>
            </a:r>
            <a:endParaRPr/>
          </a:p>
        </p:txBody>
      </p:sp>
      <p:sp>
        <p:nvSpPr>
          <p:cNvPr id="414" name="Google Shape;414;p20"/>
          <p:cNvSpPr/>
          <p:nvPr/>
        </p:nvSpPr>
        <p:spPr>
          <a:xfrm>
            <a:off x="5429250" y="3276600"/>
            <a:ext cx="83820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6515100" y="1924050"/>
            <a:ext cx="5143500" cy="1209675"/>
          </a:xfrm>
          <a:prstGeom prst="rect">
            <a:avLst/>
          </a:prstGeom>
          <a:solidFill>
            <a:srgbClr val="F0F5F7"/>
          </a:solidFill>
          <a:ln cap="flat" cmpd="sng" w="19050">
            <a:solidFill>
              <a:srgbClr val="237A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6667500" y="2019300"/>
            <a:ext cx="48387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237A56"/>
                </a:solidFill>
                <a:latin typeface="Helvetica Neue"/>
                <a:ea typeface="Helvetica Neue"/>
                <a:cs typeface="Helvetica Neue"/>
                <a:sym typeface="Helvetica Neue"/>
              </a:rPr>
              <a:t>Container</a:t>
            </a:r>
            <a:endParaRPr/>
          </a:p>
        </p:txBody>
      </p:sp>
      <p:sp>
        <p:nvSpPr>
          <p:cNvPr id="417" name="Google Shape;417;p20"/>
          <p:cNvSpPr/>
          <p:nvPr/>
        </p:nvSpPr>
        <p:spPr>
          <a:xfrm>
            <a:off x="6667500" y="2428875"/>
            <a:ext cx="4838700" cy="638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Uitvoering op de workshopserver</a:t>
            </a:r>
            <a:endParaRPr/>
          </a:p>
        </p:txBody>
      </p:sp>
      <p:sp>
        <p:nvSpPr>
          <p:cNvPr id="418" name="Google Shape;418;p20"/>
          <p:cNvSpPr/>
          <p:nvPr/>
        </p:nvSpPr>
        <p:spPr>
          <a:xfrm>
            <a:off x="6515100" y="4143375"/>
            <a:ext cx="5143500" cy="1209675"/>
          </a:xfrm>
          <a:prstGeom prst="rect">
            <a:avLst/>
          </a:prstGeom>
          <a:solidFill>
            <a:srgbClr val="F0F5F7"/>
          </a:solidFill>
          <a:ln cap="flat" cmpd="sng" w="19050">
            <a:solidFill>
              <a:srgbClr val="237A5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6667500" y="4238625"/>
            <a:ext cx="48387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237A56"/>
                </a:solidFill>
                <a:latin typeface="Helvetica Neue"/>
                <a:ea typeface="Helvetica Neue"/>
                <a:cs typeface="Helvetica Neue"/>
                <a:sym typeface="Helvetica Neue"/>
              </a:rPr>
              <a:t>Container in een Pod</a:t>
            </a:r>
            <a:endParaRPr/>
          </a:p>
        </p:txBody>
      </p:sp>
      <p:sp>
        <p:nvSpPr>
          <p:cNvPr id="420" name="Google Shape;420;p20"/>
          <p:cNvSpPr/>
          <p:nvPr/>
        </p:nvSpPr>
        <p:spPr>
          <a:xfrm>
            <a:off x="6667500" y="4648200"/>
            <a:ext cx="4838700" cy="6381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Uitvoering door Kubernetes</a:t>
            </a:r>
            <a:endParaRPr/>
          </a:p>
        </p:txBody>
      </p:sp>
      <p:sp>
        <p:nvSpPr>
          <p:cNvPr id="421" name="Google Shape;421;p20"/>
          <p:cNvSpPr/>
          <p:nvPr/>
        </p:nvSpPr>
        <p:spPr>
          <a:xfrm>
            <a:off x="5981700" y="2543175"/>
            <a:ext cx="28575" cy="2162175"/>
          </a:xfrm>
          <a:prstGeom prst="rect">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6000750" y="2438400"/>
            <a:ext cx="371475"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6000750" y="4600575"/>
            <a:ext cx="371475"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De image is herbruikbaar; iedere container heeft een eigen proces.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21"/>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Dockerfile: h</a:t>
            </a:r>
            <a:r>
              <a:rPr b="1" lang="en-US" sz="3225">
                <a:solidFill>
                  <a:srgbClr val="132F40"/>
                </a:solidFill>
                <a:latin typeface="Helvetica Neue"/>
                <a:ea typeface="Helvetica Neue"/>
                <a:cs typeface="Helvetica Neue"/>
                <a:sym typeface="Helvetica Neue"/>
              </a:rPr>
              <a:t>et bouwrecept van onze simulator</a:t>
            </a:r>
            <a:endParaRPr/>
          </a:p>
        </p:txBody>
      </p:sp>
      <p:sp>
        <p:nvSpPr>
          <p:cNvPr id="431" name="Google Shape;431;p21"/>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432" name="Google Shape;432;p21"/>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21</a:t>
            </a:r>
            <a:endParaRPr/>
          </a:p>
        </p:txBody>
      </p:sp>
      <p:sp>
        <p:nvSpPr>
          <p:cNvPr id="433" name="Google Shape;433;p21"/>
          <p:cNvSpPr/>
          <p:nvPr/>
        </p:nvSpPr>
        <p:spPr>
          <a:xfrm>
            <a:off x="533400" y="1809750"/>
            <a:ext cx="11125200" cy="3381375"/>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1"/>
          <p:cNvSpPr/>
          <p:nvPr/>
        </p:nvSpPr>
        <p:spPr>
          <a:xfrm>
            <a:off x="762000" y="1981200"/>
            <a:ext cx="10668000" cy="3038475"/>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725">
                <a:solidFill>
                  <a:srgbClr val="FFFFFF"/>
                </a:solidFill>
                <a:latin typeface="Consolas"/>
                <a:ea typeface="Consolas"/>
                <a:cs typeface="Consolas"/>
                <a:sym typeface="Consolas"/>
              </a:rPr>
              <a:t>FROM python:3.11-slim</a:t>
            </a:r>
            <a:endParaRPr sz="1725">
              <a:solidFill>
                <a:srgbClr val="FFFFFF"/>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725">
                <a:solidFill>
                  <a:srgbClr val="FFFFFF"/>
                </a:solidFill>
                <a:latin typeface="Consolas"/>
                <a:ea typeface="Consolas"/>
                <a:cs typeface="Consolas"/>
                <a:sym typeface="Consolas"/>
              </a:rPr>
              <a:t>WORKDIR /app</a:t>
            </a:r>
            <a:endParaRPr sz="1725">
              <a:solidFill>
                <a:srgbClr val="FFFFFF"/>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725">
                <a:solidFill>
                  <a:srgbClr val="FFFFFF"/>
                </a:solidFill>
                <a:latin typeface="Consolas"/>
                <a:ea typeface="Consolas"/>
                <a:cs typeface="Consolas"/>
                <a:sym typeface="Consolas"/>
              </a:rPr>
              <a:t>COPY requirements.txt .</a:t>
            </a:r>
            <a:endParaRPr sz="1725">
              <a:solidFill>
                <a:srgbClr val="FFFFFF"/>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725">
                <a:solidFill>
                  <a:srgbClr val="FFFFFF"/>
                </a:solidFill>
                <a:latin typeface="Consolas"/>
                <a:ea typeface="Consolas"/>
                <a:cs typeface="Consolas"/>
                <a:sym typeface="Consolas"/>
              </a:rPr>
              <a:t>RUN pip install --no-cache-dir -r requirements.txt</a:t>
            </a:r>
            <a:endParaRPr sz="1725">
              <a:solidFill>
                <a:srgbClr val="FFFFFF"/>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725">
                <a:solidFill>
                  <a:srgbClr val="FFFFFF"/>
                </a:solidFill>
                <a:latin typeface="Consolas"/>
                <a:ea typeface="Consolas"/>
                <a:cs typeface="Consolas"/>
                <a:sym typeface="Consolas"/>
              </a:rPr>
              <a:t>COPY app.py .</a:t>
            </a:r>
            <a:endParaRPr sz="1725">
              <a:solidFill>
                <a:srgbClr val="FFFFFF"/>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725">
                <a:solidFill>
                  <a:srgbClr val="FFFFFF"/>
                </a:solidFill>
                <a:latin typeface="Consolas"/>
                <a:ea typeface="Consolas"/>
                <a:cs typeface="Consolas"/>
                <a:sym typeface="Consolas"/>
              </a:rPr>
              <a:t>EXPOSE 5000</a:t>
            </a:r>
            <a:endParaRPr sz="1725">
              <a:solidFill>
                <a:srgbClr val="FFFFFF"/>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725">
                <a:solidFill>
                  <a:srgbClr val="FFFFFF"/>
                </a:solidFill>
                <a:latin typeface="Consolas"/>
                <a:ea typeface="Consolas"/>
                <a:cs typeface="Consolas"/>
                <a:sym typeface="Consolas"/>
              </a:rPr>
              <a:t>CMD ["python", "app.py"]</a:t>
            </a:r>
            <a:endParaRPr sz="1725">
              <a:solidFill>
                <a:srgbClr val="FFFFFF"/>
              </a:solidFill>
              <a:latin typeface="Consolas"/>
              <a:ea typeface="Consolas"/>
              <a:cs typeface="Consolas"/>
              <a:sym typeface="Consolas"/>
            </a:endParaRPr>
          </a:p>
          <a:p>
            <a:pPr indent="0" lvl="0" marL="0" marR="0" rtl="0" algn="l">
              <a:spcBef>
                <a:spcPts val="0"/>
              </a:spcBef>
              <a:spcAft>
                <a:spcPts val="0"/>
              </a:spcAft>
              <a:buNone/>
            </a:pPr>
            <a:r>
              <a:t/>
            </a:r>
            <a:endParaRPr sz="1725">
              <a:solidFill>
                <a:srgbClr val="FFFFFF"/>
              </a:solidFill>
              <a:latin typeface="Consolas"/>
              <a:ea typeface="Consolas"/>
              <a:cs typeface="Consolas"/>
              <a:sym typeface="Consolas"/>
            </a:endParaRPr>
          </a:p>
        </p:txBody>
      </p:sp>
      <p:sp>
        <p:nvSpPr>
          <p:cNvPr id="435" name="Google Shape;435;p21"/>
          <p:cNvSpPr/>
          <p:nvPr/>
        </p:nvSpPr>
        <p:spPr>
          <a:xfrm>
            <a:off x="533400" y="5381625"/>
            <a:ext cx="11125200" cy="10001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Flask-app met /sensor · requirements.txt bevat Flask</a:t>
            </a:r>
            <a:endParaRPr/>
          </a:p>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Iedere seconde een meting in geheugen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0" name="Shape 440"/>
        <p:cNvGrpSpPr/>
        <p:nvPr/>
      </p:nvGrpSpPr>
      <p:grpSpPr>
        <a:xfrm>
          <a:off x="0" y="0"/>
          <a:ext cx="0" cy="0"/>
          <a:chOff x="0" y="0"/>
          <a:chExt cx="0" cy="0"/>
        </a:xfrm>
      </p:grpSpPr>
      <p:sp>
        <p:nvSpPr>
          <p:cNvPr id="441" name="Google Shape;441;p23"/>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Zelf doen: de simulatorimage bouwen</a:t>
            </a:r>
            <a:endParaRPr/>
          </a:p>
        </p:txBody>
      </p:sp>
      <p:sp>
        <p:nvSpPr>
          <p:cNvPr id="442" name="Google Shape;442;p23"/>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443" name="Google Shape;443;p23"/>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22</a:t>
            </a:r>
            <a:endParaRPr/>
          </a:p>
        </p:txBody>
      </p:sp>
      <p:sp>
        <p:nvSpPr>
          <p:cNvPr id="444" name="Google Shape;444;p23"/>
          <p:cNvSpPr/>
          <p:nvPr/>
        </p:nvSpPr>
        <p:spPr>
          <a:xfrm>
            <a:off x="533400" y="1809750"/>
            <a:ext cx="11125200" cy="3000375"/>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3"/>
          <p:cNvSpPr/>
          <p:nvPr/>
        </p:nvSpPr>
        <p:spPr>
          <a:xfrm>
            <a:off x="762000" y="1981200"/>
            <a:ext cx="10668000" cy="2657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cd ~/workshop/simulator</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mkdir wenjie</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cp app.py requirements.txt Dockerfile *.yaml wenjie/</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cd wenjie</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docker build -t sensor-simulator:wenjie .</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docker images sensor-simulator</a:t>
            </a:r>
            <a:endParaRPr/>
          </a:p>
        </p:txBody>
      </p:sp>
      <p:sp>
        <p:nvSpPr>
          <p:cNvPr id="446" name="Google Shape;446;p23"/>
          <p:cNvSpPr/>
          <p:nvPr/>
        </p:nvSpPr>
        <p:spPr>
          <a:xfrm>
            <a:off x="533400" y="5114925"/>
            <a:ext cx="11125200" cy="10001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Gebruik jouw naam in plaats van wenjie</a:t>
            </a:r>
            <a:endParaRPr/>
          </a:p>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Checkpoint 3 · jouw image en tag staan in de lijst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1" name="Shape 451"/>
        <p:cNvGrpSpPr/>
        <p:nvPr/>
      </p:nvGrpSpPr>
      <p:grpSpPr>
        <a:xfrm>
          <a:off x="0" y="0"/>
          <a:ext cx="0" cy="0"/>
          <a:chOff x="0" y="0"/>
          <a:chExt cx="0" cy="0"/>
        </a:xfrm>
      </p:grpSpPr>
      <p:sp>
        <p:nvSpPr>
          <p:cNvPr id="452" name="Google Shape;452;p24"/>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Kort testen: de gebouwde container</a:t>
            </a:r>
            <a:endParaRPr/>
          </a:p>
        </p:txBody>
      </p:sp>
      <p:sp>
        <p:nvSpPr>
          <p:cNvPr id="453" name="Google Shape;453;p24"/>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454" name="Google Shape;454;p24"/>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23</a:t>
            </a:r>
            <a:endParaRPr/>
          </a:p>
        </p:txBody>
      </p:sp>
      <p:sp>
        <p:nvSpPr>
          <p:cNvPr id="455" name="Google Shape;455;p24"/>
          <p:cNvSpPr/>
          <p:nvPr/>
        </p:nvSpPr>
        <p:spPr>
          <a:xfrm>
            <a:off x="533400" y="1809750"/>
            <a:ext cx="11125200" cy="3000375"/>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4"/>
          <p:cNvSpPr/>
          <p:nvPr/>
        </p:nvSpPr>
        <p:spPr>
          <a:xfrm>
            <a:off x="762000" y="1981200"/>
            <a:ext cx="10668000" cy="2657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docker run --rm sensor-simulator:wenjie</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 Stop na de Flask-startmelding met Ctrl+C</a:t>
            </a:r>
            <a:endParaRPr/>
          </a:p>
        </p:txBody>
      </p:sp>
      <p:sp>
        <p:nvSpPr>
          <p:cNvPr id="457" name="Google Shape;457;p24"/>
          <p:cNvSpPr/>
          <p:nvPr/>
        </p:nvSpPr>
        <p:spPr>
          <a:xfrm>
            <a:off x="533400" y="5114925"/>
            <a:ext cx="11125200" cy="10001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Optionele lokale test · geen poort instellen</a:t>
            </a:r>
            <a:endParaRPr/>
          </a:p>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Hierna: zelf de simulator deployen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22"/>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Van lokale build naar beschikbare image</a:t>
            </a:r>
            <a:endParaRPr/>
          </a:p>
        </p:txBody>
      </p:sp>
      <p:sp>
        <p:nvSpPr>
          <p:cNvPr id="464" name="Google Shape;464;p22"/>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465" name="Google Shape;465;p22"/>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24</a:t>
            </a:r>
            <a:endParaRPr/>
          </a:p>
        </p:txBody>
      </p:sp>
      <p:sp>
        <p:nvSpPr>
          <p:cNvPr id="466" name="Google Shape;466;p22"/>
          <p:cNvSpPr/>
          <p:nvPr/>
        </p:nvSpPr>
        <p:spPr>
          <a:xfrm>
            <a:off x="533400" y="2409825"/>
            <a:ext cx="3171825" cy="11811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2"/>
          <p:cNvSpPr/>
          <p:nvPr/>
        </p:nvSpPr>
        <p:spPr>
          <a:xfrm>
            <a:off x="685800" y="2505075"/>
            <a:ext cx="286702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Buildserver</a:t>
            </a:r>
            <a:endParaRPr/>
          </a:p>
        </p:txBody>
      </p:sp>
      <p:sp>
        <p:nvSpPr>
          <p:cNvPr id="468" name="Google Shape;468;p22"/>
          <p:cNvSpPr/>
          <p:nvPr/>
        </p:nvSpPr>
        <p:spPr>
          <a:xfrm>
            <a:off x="685800" y="2914650"/>
            <a:ext cx="2867025"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docker build</a:t>
            </a:r>
            <a:endParaRPr/>
          </a:p>
        </p:txBody>
      </p:sp>
      <p:sp>
        <p:nvSpPr>
          <p:cNvPr id="469" name="Google Shape;469;p22"/>
          <p:cNvSpPr/>
          <p:nvPr/>
        </p:nvSpPr>
        <p:spPr>
          <a:xfrm>
            <a:off x="3800475" y="2867025"/>
            <a:ext cx="59055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2"/>
          <p:cNvSpPr/>
          <p:nvPr/>
        </p:nvSpPr>
        <p:spPr>
          <a:xfrm>
            <a:off x="4524375" y="2409825"/>
            <a:ext cx="3171825" cy="11811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p:nvPr/>
        </p:nvSpPr>
        <p:spPr>
          <a:xfrm>
            <a:off x="4676775" y="2505075"/>
            <a:ext cx="286702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Registry</a:t>
            </a:r>
            <a:endParaRPr/>
          </a:p>
        </p:txBody>
      </p:sp>
      <p:sp>
        <p:nvSpPr>
          <p:cNvPr id="472" name="Google Shape;472;p22"/>
          <p:cNvSpPr/>
          <p:nvPr/>
        </p:nvSpPr>
        <p:spPr>
          <a:xfrm>
            <a:off x="4676775" y="2914650"/>
            <a:ext cx="2867025"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Vooraf gepubliceerde image</a:t>
            </a:r>
            <a:endParaRPr/>
          </a:p>
        </p:txBody>
      </p:sp>
      <p:sp>
        <p:nvSpPr>
          <p:cNvPr id="473" name="Google Shape;473;p22"/>
          <p:cNvSpPr/>
          <p:nvPr/>
        </p:nvSpPr>
        <p:spPr>
          <a:xfrm>
            <a:off x="7810500" y="2867025"/>
            <a:ext cx="561975"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8505825" y="2409825"/>
            <a:ext cx="3152775" cy="11811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8658225" y="2505075"/>
            <a:ext cx="284797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Kubernetes-node</a:t>
            </a:r>
            <a:endParaRPr/>
          </a:p>
        </p:txBody>
      </p:sp>
      <p:sp>
        <p:nvSpPr>
          <p:cNvPr id="476" name="Google Shape;476;p22"/>
          <p:cNvSpPr/>
          <p:nvPr/>
        </p:nvSpPr>
        <p:spPr>
          <a:xfrm>
            <a:off x="8658225" y="2914650"/>
            <a:ext cx="2847975" cy="60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Image ophalen en starten</a:t>
            </a:r>
            <a:endParaRPr/>
          </a:p>
        </p:txBody>
      </p:sp>
      <p:sp>
        <p:nvSpPr>
          <p:cNvPr id="477" name="Google Shape;477;p22"/>
          <p:cNvSpPr/>
          <p:nvPr/>
        </p:nvSpPr>
        <p:spPr>
          <a:xfrm>
            <a:off x="533400" y="4076700"/>
            <a:ext cx="320992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2677E"/>
                </a:solidFill>
                <a:latin typeface="Helvetica Neue"/>
                <a:ea typeface="Helvetica Neue"/>
                <a:cs typeface="Helvetica Neue"/>
                <a:sym typeface="Helvetica Neue"/>
              </a:rPr>
              <a:t>Deelnemers: bouwen</a:t>
            </a:r>
            <a:endParaRPr/>
          </a:p>
        </p:txBody>
      </p:sp>
      <p:sp>
        <p:nvSpPr>
          <p:cNvPr id="478" name="Google Shape;478;p22"/>
          <p:cNvSpPr/>
          <p:nvPr/>
        </p:nvSpPr>
        <p:spPr>
          <a:xfrm>
            <a:off x="4514850" y="4076700"/>
            <a:ext cx="321945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2677E"/>
                </a:solidFill>
                <a:latin typeface="Helvetica Neue"/>
                <a:ea typeface="Helvetica Neue"/>
                <a:cs typeface="Helvetica Neue"/>
                <a:sym typeface="Helvetica Neue"/>
              </a:rPr>
              <a:t>Vooraf beschikbaar</a:t>
            </a:r>
            <a:endParaRPr/>
          </a:p>
        </p:txBody>
      </p:sp>
      <p:sp>
        <p:nvSpPr>
          <p:cNvPr id="479" name="Google Shape;479;p22"/>
          <p:cNvSpPr/>
          <p:nvPr/>
        </p:nvSpPr>
        <p:spPr>
          <a:xfrm>
            <a:off x="8505825" y="4076700"/>
            <a:ext cx="315277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2677E"/>
                </a:solidFill>
                <a:latin typeface="Helvetica Neue"/>
                <a:ea typeface="Helvetica Neue"/>
                <a:cs typeface="Helvetica Neue"/>
                <a:sym typeface="Helvetica Neue"/>
              </a:rPr>
              <a:t>Deelnemers: deployen</a:t>
            </a:r>
            <a:endParaRPr/>
          </a:p>
        </p:txBody>
      </p:sp>
      <p:sp>
        <p:nvSpPr>
          <p:cNvPr id="480" name="Google Shape;480;p22"/>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Je bouwt lokaal en deployt met de verstrekte registry-image.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25"/>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Zelf doen: beschikbare image invullen</a:t>
            </a:r>
            <a:endParaRPr/>
          </a:p>
        </p:txBody>
      </p:sp>
      <p:sp>
        <p:nvSpPr>
          <p:cNvPr id="487" name="Google Shape;487;p25"/>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488" name="Google Shape;488;p25"/>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25</a:t>
            </a:r>
            <a:endParaRPr/>
          </a:p>
        </p:txBody>
      </p:sp>
      <p:sp>
        <p:nvSpPr>
          <p:cNvPr id="489" name="Google Shape;489;p25"/>
          <p:cNvSpPr/>
          <p:nvPr/>
        </p:nvSpPr>
        <p:spPr>
          <a:xfrm>
            <a:off x="533400" y="1657350"/>
            <a:ext cx="1112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325">
                <a:solidFill>
                  <a:srgbClr val="12677E"/>
                </a:solidFill>
                <a:latin typeface="Helvetica Neue"/>
                <a:ea typeface="Helvetica Neue"/>
                <a:cs typeface="Helvetica Neue"/>
                <a:sym typeface="Helvetica Neue"/>
              </a:rPr>
              <a:t>Image van de begeleider</a:t>
            </a:r>
            <a:endParaRPr/>
          </a:p>
        </p:txBody>
      </p:sp>
      <p:sp>
        <p:nvSpPr>
          <p:cNvPr id="490" name="Google Shape;490;p25"/>
          <p:cNvSpPr/>
          <p:nvPr/>
        </p:nvSpPr>
        <p:spPr>
          <a:xfrm>
            <a:off x="533400" y="2247900"/>
            <a:ext cx="11125200" cy="819150"/>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5"/>
          <p:cNvSpPr/>
          <p:nvPr/>
        </p:nvSpPr>
        <p:spPr>
          <a:xfrm>
            <a:off x="762000" y="2371725"/>
            <a:ext cx="10668000" cy="5429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FFFFFF"/>
                </a:solidFill>
                <a:latin typeface="Consolas"/>
                <a:ea typeface="Consolas"/>
                <a:cs typeface="Consolas"/>
                <a:sym typeface="Consolas"/>
              </a:rPr>
              <a:t>image: whu1/sensor-simulator:</a:t>
            </a:r>
            <a:r>
              <a:rPr lang="en-US" sz="2025">
                <a:solidFill>
                  <a:srgbClr val="FFFFFF"/>
                </a:solidFill>
                <a:latin typeface="Consolas"/>
                <a:ea typeface="Consolas"/>
                <a:cs typeface="Consolas"/>
                <a:sym typeface="Consolas"/>
              </a:rPr>
              <a:t>1.0</a:t>
            </a:r>
            <a:endParaRPr/>
          </a:p>
        </p:txBody>
      </p:sp>
      <p:sp>
        <p:nvSpPr>
          <p:cNvPr id="492" name="Google Shape;492;p25"/>
          <p:cNvSpPr/>
          <p:nvPr/>
        </p:nvSpPr>
        <p:spPr>
          <a:xfrm>
            <a:off x="533400" y="3143250"/>
            <a:ext cx="11125200"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53616B"/>
                </a:solidFill>
                <a:latin typeface="Helvetica Neue"/>
                <a:ea typeface="Helvetica Neue"/>
                <a:cs typeface="Helvetica Neue"/>
                <a:sym typeface="Helvetica Neue"/>
              </a:rPr>
              <a:t>Voorbeeldtag · de begeleider bevestigt vooraf de beschikbare tag</a:t>
            </a:r>
            <a:endParaRPr/>
          </a:p>
        </p:txBody>
      </p:sp>
      <p:sp>
        <p:nvSpPr>
          <p:cNvPr id="493" name="Google Shape;493;p25"/>
          <p:cNvSpPr/>
          <p:nvPr/>
        </p:nvSpPr>
        <p:spPr>
          <a:xfrm>
            <a:off x="533400" y="3743325"/>
            <a:ext cx="619125"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01</a:t>
            </a:r>
            <a:endParaRPr/>
          </a:p>
        </p:txBody>
      </p:sp>
      <p:sp>
        <p:nvSpPr>
          <p:cNvPr id="494" name="Google Shape;494;p25"/>
          <p:cNvSpPr/>
          <p:nvPr/>
        </p:nvSpPr>
        <p:spPr>
          <a:xfrm>
            <a:off x="1276350" y="3743325"/>
            <a:ext cx="10382250" cy="5048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132F40"/>
                </a:solidFill>
                <a:latin typeface="Helvetica Neue"/>
                <a:ea typeface="Helvetica Neue"/>
                <a:cs typeface="Helvetica Neue"/>
                <a:sym typeface="Helvetica Neue"/>
              </a:rPr>
              <a:t>Open jouw drie simulator-YAML-bestanden</a:t>
            </a:r>
            <a:endParaRPr/>
          </a:p>
        </p:txBody>
      </p:sp>
      <p:sp>
        <p:nvSpPr>
          <p:cNvPr id="495" name="Google Shape;495;p25"/>
          <p:cNvSpPr/>
          <p:nvPr/>
        </p:nvSpPr>
        <p:spPr>
          <a:xfrm>
            <a:off x="533400" y="4391025"/>
            <a:ext cx="619125"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02</a:t>
            </a:r>
            <a:endParaRPr/>
          </a:p>
        </p:txBody>
      </p:sp>
      <p:sp>
        <p:nvSpPr>
          <p:cNvPr id="496" name="Google Shape;496;p25"/>
          <p:cNvSpPr/>
          <p:nvPr/>
        </p:nvSpPr>
        <p:spPr>
          <a:xfrm>
            <a:off x="1276350" y="4391025"/>
            <a:ext cx="10382250" cy="5048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132F40"/>
                </a:solidFill>
                <a:latin typeface="Helvetica Neue"/>
                <a:ea typeface="Helvetica Neue"/>
                <a:cs typeface="Helvetica Neue"/>
                <a:sym typeface="Helvetica Neue"/>
              </a:rPr>
              <a:t>Vul de image in en vervang overal &lt;naam&gt;</a:t>
            </a:r>
            <a:endParaRPr/>
          </a:p>
        </p:txBody>
      </p:sp>
      <p:sp>
        <p:nvSpPr>
          <p:cNvPr id="497" name="Google Shape;497;p25"/>
          <p:cNvSpPr/>
          <p:nvPr/>
        </p:nvSpPr>
        <p:spPr>
          <a:xfrm>
            <a:off x="533400" y="5038725"/>
            <a:ext cx="619125"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03</a:t>
            </a:r>
            <a:endParaRPr/>
          </a:p>
        </p:txBody>
      </p:sp>
      <p:sp>
        <p:nvSpPr>
          <p:cNvPr id="498" name="Google Shape;498;p25"/>
          <p:cNvSpPr/>
          <p:nvPr/>
        </p:nvSpPr>
        <p:spPr>
          <a:xfrm>
            <a:off x="1276350" y="5038725"/>
            <a:ext cx="10382250" cy="5048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132F40"/>
                </a:solidFill>
                <a:latin typeface="Helvetica Neue"/>
                <a:ea typeface="Helvetica Neue"/>
                <a:cs typeface="Helvetica Neue"/>
                <a:sym typeface="Helvetica Neue"/>
              </a:rPr>
              <a:t>Sla op of upload terug; daarna pas apply</a:t>
            </a:r>
            <a:endParaRPr/>
          </a:p>
        </p:txBody>
      </p:sp>
      <p:sp>
        <p:nvSpPr>
          <p:cNvPr id="499" name="Google Shape;499;p25"/>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Zelfde werkwijze als nginx · nieuwe namen · targetPort 5000</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4" name="Shape 504"/>
        <p:cNvGrpSpPr/>
        <p:nvPr/>
      </p:nvGrpSpPr>
      <p:grpSpPr>
        <a:xfrm>
          <a:off x="0" y="0"/>
          <a:ext cx="0" cy="0"/>
          <a:chOff x="0" y="0"/>
          <a:chExt cx="0" cy="0"/>
        </a:xfrm>
      </p:grpSpPr>
      <p:sp>
        <p:nvSpPr>
          <p:cNvPr id="505" name="Google Shape;505;p26"/>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Zelf doen: de simulator deployen</a:t>
            </a:r>
            <a:endParaRPr/>
          </a:p>
        </p:txBody>
      </p:sp>
      <p:sp>
        <p:nvSpPr>
          <p:cNvPr id="506" name="Google Shape;506;p26"/>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507" name="Google Shape;507;p26"/>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26</a:t>
            </a:r>
            <a:endParaRPr/>
          </a:p>
        </p:txBody>
      </p:sp>
      <p:sp>
        <p:nvSpPr>
          <p:cNvPr id="508" name="Google Shape;508;p26"/>
          <p:cNvSpPr/>
          <p:nvPr/>
        </p:nvSpPr>
        <p:spPr>
          <a:xfrm>
            <a:off x="533400" y="1809750"/>
            <a:ext cx="11125200" cy="3000375"/>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6"/>
          <p:cNvSpPr/>
          <p:nvPr/>
        </p:nvSpPr>
        <p:spPr>
          <a:xfrm>
            <a:off x="762000" y="1981200"/>
            <a:ext cx="10668000" cy="265747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apply -f .</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get pods -o wide</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get svc</a:t>
            </a:r>
            <a:endParaRPr/>
          </a:p>
        </p:txBody>
      </p:sp>
      <p:sp>
        <p:nvSpPr>
          <p:cNvPr id="510" name="Google Shape;510;p26"/>
          <p:cNvSpPr/>
          <p:nvPr/>
        </p:nvSpPr>
        <p:spPr>
          <a:xfrm>
            <a:off x="533400" y="5114925"/>
            <a:ext cx="11125200" cy="10001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Vanuit workshop/simulator/jouw-naam</a:t>
            </a:r>
            <a:endParaRPr/>
          </a:p>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Checkpoint 4 · simulator-Pod Running en 1/1 Ready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27"/>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Stap 2 klaar: jouw simulator werkt</a:t>
            </a:r>
            <a:endParaRPr/>
          </a:p>
        </p:txBody>
      </p:sp>
      <p:sp>
        <p:nvSpPr>
          <p:cNvPr id="517" name="Google Shape;517;p27"/>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2</a:t>
            </a:r>
            <a:endParaRPr/>
          </a:p>
        </p:txBody>
      </p:sp>
      <p:sp>
        <p:nvSpPr>
          <p:cNvPr id="518" name="Google Shape;518;p27"/>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27</a:t>
            </a:r>
            <a:endParaRPr/>
          </a:p>
        </p:txBody>
      </p:sp>
      <p:sp>
        <p:nvSpPr>
          <p:cNvPr id="519" name="Google Shape;519;p27"/>
          <p:cNvSpPr/>
          <p:nvPr/>
        </p:nvSpPr>
        <p:spPr>
          <a:xfrm>
            <a:off x="533400" y="1619250"/>
            <a:ext cx="111252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250">
                <a:solidFill>
                  <a:srgbClr val="12677E"/>
                </a:solidFill>
                <a:latin typeface="Helvetica Neue"/>
                <a:ea typeface="Helvetica Neue"/>
                <a:cs typeface="Helvetica Neue"/>
                <a:sym typeface="Helvetica Neue"/>
              </a:rPr>
              <a:t>Open jouw simulator-URL met /sensor in de browser</a:t>
            </a:r>
            <a:endParaRPr/>
          </a:p>
        </p:txBody>
      </p:sp>
      <p:sp>
        <p:nvSpPr>
          <p:cNvPr id="520" name="Google Shape;520;p27"/>
          <p:cNvSpPr/>
          <p:nvPr/>
        </p:nvSpPr>
        <p:spPr>
          <a:xfrm>
            <a:off x="533400" y="2333625"/>
            <a:ext cx="11125200" cy="3048000"/>
          </a:xfrm>
          <a:prstGeom prst="roundRect">
            <a:avLst>
              <a:gd fmla="val 2500" name="adj"/>
            </a:avLst>
          </a:prstGeom>
          <a:solidFill>
            <a:srgbClr val="EEF2F7"/>
          </a:solidFill>
          <a:ln cap="flat" cmpd="sng" w="19050">
            <a:solidFill>
              <a:srgbClr val="D1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7"/>
          <p:cNvSpPr/>
          <p:nvPr/>
        </p:nvSpPr>
        <p:spPr>
          <a:xfrm>
            <a:off x="542925" y="2352675"/>
            <a:ext cx="11106150" cy="552450"/>
          </a:xfrm>
          <a:prstGeom prst="rect">
            <a:avLst/>
          </a:prstGeom>
          <a:solidFill>
            <a:srgbClr val="E3E9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7"/>
          <p:cNvSpPr/>
          <p:nvPr/>
        </p:nvSpPr>
        <p:spPr>
          <a:xfrm>
            <a:off x="733425" y="2552700"/>
            <a:ext cx="114300" cy="114300"/>
          </a:xfrm>
          <a:prstGeom prst="ellipse">
            <a:avLst/>
          </a:prstGeom>
          <a:solidFill>
            <a:srgbClr val="D88E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7"/>
          <p:cNvSpPr/>
          <p:nvPr/>
        </p:nvSpPr>
        <p:spPr>
          <a:xfrm>
            <a:off x="952500" y="2552700"/>
            <a:ext cx="114300" cy="114300"/>
          </a:xfrm>
          <a:prstGeom prst="ellipse">
            <a:avLst/>
          </a:prstGeom>
          <a:solidFill>
            <a:srgbClr val="DCC28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7"/>
          <p:cNvSpPr/>
          <p:nvPr/>
        </p:nvSpPr>
        <p:spPr>
          <a:xfrm>
            <a:off x="1171575" y="2552700"/>
            <a:ext cx="114300" cy="114300"/>
          </a:xfrm>
          <a:prstGeom prst="ellipse">
            <a:avLst/>
          </a:prstGeom>
          <a:solidFill>
            <a:srgbClr val="86B5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7"/>
          <p:cNvSpPr/>
          <p:nvPr/>
        </p:nvSpPr>
        <p:spPr>
          <a:xfrm>
            <a:off x="1552575" y="2447925"/>
            <a:ext cx="9801225" cy="342900"/>
          </a:xfrm>
          <a:prstGeom prst="roundRect">
            <a:avLst>
              <a:gd fmla="val 2222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7"/>
          <p:cNvSpPr/>
          <p:nvPr/>
        </p:nvSpPr>
        <p:spPr>
          <a:xfrm>
            <a:off x="1685925" y="2457450"/>
            <a:ext cx="9506100" cy="3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132F40"/>
                </a:solidFill>
                <a:latin typeface="Consolas"/>
                <a:ea typeface="Consolas"/>
                <a:cs typeface="Consolas"/>
                <a:sym typeface="Consolas"/>
              </a:rPr>
              <a:t>http://simulator-wenjie.k8s.eom.local/sensor</a:t>
            </a:r>
            <a:endParaRPr/>
          </a:p>
        </p:txBody>
      </p:sp>
      <p:sp>
        <p:nvSpPr>
          <p:cNvPr id="527" name="Google Shape;527;p27"/>
          <p:cNvSpPr/>
          <p:nvPr/>
        </p:nvSpPr>
        <p:spPr>
          <a:xfrm>
            <a:off x="952500" y="3152775"/>
            <a:ext cx="10287000" cy="163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250">
                <a:solidFill>
                  <a:srgbClr val="132F40"/>
                </a:solidFill>
                <a:latin typeface="Consolas"/>
                <a:ea typeface="Consolas"/>
                <a:cs typeface="Consolas"/>
                <a:sym typeface="Consolas"/>
              </a:rPr>
              <a:t>{</a:t>
            </a:r>
            <a:endParaRPr/>
          </a:p>
          <a:p>
            <a:pPr indent="0" lvl="0" marL="0" marR="0" rtl="0" algn="l">
              <a:spcBef>
                <a:spcPts val="0"/>
              </a:spcBef>
              <a:spcAft>
                <a:spcPts val="0"/>
              </a:spcAft>
              <a:buNone/>
            </a:pPr>
            <a:r>
              <a:rPr b="0" lang="en-US" sz="2250">
                <a:solidFill>
                  <a:srgbClr val="132F40"/>
                </a:solidFill>
                <a:latin typeface="Consolas"/>
                <a:ea typeface="Consolas"/>
                <a:cs typeface="Consolas"/>
                <a:sym typeface="Consolas"/>
              </a:rPr>
              <a:t>  "temperature": 21.4, "humidity": 48.2,</a:t>
            </a:r>
            <a:endParaRPr/>
          </a:p>
          <a:p>
            <a:pPr indent="0" lvl="0" marL="0" marR="0" rtl="0" algn="l">
              <a:spcBef>
                <a:spcPts val="0"/>
              </a:spcBef>
              <a:spcAft>
                <a:spcPts val="0"/>
              </a:spcAft>
              <a:buNone/>
            </a:pPr>
            <a:r>
              <a:rPr b="0" lang="en-US" sz="2250">
                <a:solidFill>
                  <a:srgbClr val="132F40"/>
                </a:solidFill>
                <a:latin typeface="Consolas"/>
                <a:ea typeface="Consolas"/>
                <a:cs typeface="Consolas"/>
                <a:sym typeface="Consolas"/>
              </a:rPr>
              <a:t>  "sequence": 12, ...</a:t>
            </a:r>
            <a:endParaRPr/>
          </a:p>
          <a:p>
            <a:pPr indent="0" lvl="0" marL="0" marR="0" rtl="0" algn="l">
              <a:spcBef>
                <a:spcPts val="0"/>
              </a:spcBef>
              <a:spcAft>
                <a:spcPts val="0"/>
              </a:spcAft>
              <a:buNone/>
            </a:pPr>
            <a:r>
              <a:rPr b="0" lang="en-US" sz="2250">
                <a:solidFill>
                  <a:srgbClr val="132F40"/>
                </a:solidFill>
                <a:latin typeface="Consolas"/>
                <a:ea typeface="Consolas"/>
                <a:cs typeface="Consolas"/>
                <a:sym typeface="Consolas"/>
              </a:rPr>
              <a:t>}</a:t>
            </a:r>
            <a:endParaRPr/>
          </a:p>
        </p:txBody>
      </p:sp>
      <p:sp>
        <p:nvSpPr>
          <p:cNvPr id="528" name="Google Shape;528;p27"/>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Voorbeeldweergave · vernieuw de pagina: de meting verandert.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sp>
        <p:nvSpPr>
          <p:cNvPr id="534" name="Google Shape;534;p28"/>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Stap 3: controleren en verklaren</a:t>
            </a:r>
            <a:endParaRPr/>
          </a:p>
        </p:txBody>
      </p:sp>
      <p:sp>
        <p:nvSpPr>
          <p:cNvPr id="535" name="Google Shape;535;p28"/>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3</a:t>
            </a:r>
            <a:endParaRPr/>
          </a:p>
        </p:txBody>
      </p:sp>
      <p:sp>
        <p:nvSpPr>
          <p:cNvPr id="536" name="Google Shape;536;p28"/>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28</a:t>
            </a:r>
            <a:endParaRPr/>
          </a:p>
        </p:txBody>
      </p:sp>
      <p:sp>
        <p:nvSpPr>
          <p:cNvPr id="537" name="Google Shape;537;p28"/>
          <p:cNvSpPr/>
          <p:nvPr/>
        </p:nvSpPr>
        <p:spPr>
          <a:xfrm>
            <a:off x="533400" y="1743075"/>
            <a:ext cx="619125"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01</a:t>
            </a:r>
            <a:endParaRPr/>
          </a:p>
        </p:txBody>
      </p:sp>
      <p:sp>
        <p:nvSpPr>
          <p:cNvPr id="538" name="Google Shape;538;p28"/>
          <p:cNvSpPr/>
          <p:nvPr/>
        </p:nvSpPr>
        <p:spPr>
          <a:xfrm>
            <a:off x="1276350" y="1743075"/>
            <a:ext cx="10382250" cy="781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250">
                <a:solidFill>
                  <a:srgbClr val="132F40"/>
                </a:solidFill>
                <a:latin typeface="Helvetica Neue"/>
                <a:ea typeface="Helvetica Neue"/>
                <a:cs typeface="Helvetica Neue"/>
                <a:sym typeface="Helvetica Neue"/>
              </a:rPr>
              <a:t>Pods: nginx en simulator Running en Ready</a:t>
            </a:r>
            <a:endParaRPr/>
          </a:p>
        </p:txBody>
      </p:sp>
      <p:sp>
        <p:nvSpPr>
          <p:cNvPr id="539" name="Google Shape;539;p28"/>
          <p:cNvSpPr/>
          <p:nvPr/>
        </p:nvSpPr>
        <p:spPr>
          <a:xfrm>
            <a:off x="533400" y="2667000"/>
            <a:ext cx="619125"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02</a:t>
            </a:r>
            <a:endParaRPr/>
          </a:p>
        </p:txBody>
      </p:sp>
      <p:sp>
        <p:nvSpPr>
          <p:cNvPr id="540" name="Google Shape;540;p28"/>
          <p:cNvSpPr/>
          <p:nvPr/>
        </p:nvSpPr>
        <p:spPr>
          <a:xfrm>
            <a:off x="1276350" y="2667000"/>
            <a:ext cx="10382250" cy="781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250">
                <a:solidFill>
                  <a:srgbClr val="132F40"/>
                </a:solidFill>
                <a:latin typeface="Helvetica Neue"/>
                <a:ea typeface="Helvetica Neue"/>
                <a:cs typeface="Helvetica Neue"/>
                <a:sym typeface="Helvetica Neue"/>
              </a:rPr>
              <a:t>Services: eigen namen en juiste doelpoorten</a:t>
            </a:r>
            <a:endParaRPr/>
          </a:p>
        </p:txBody>
      </p:sp>
      <p:sp>
        <p:nvSpPr>
          <p:cNvPr id="541" name="Google Shape;541;p28"/>
          <p:cNvSpPr/>
          <p:nvPr/>
        </p:nvSpPr>
        <p:spPr>
          <a:xfrm>
            <a:off x="533400" y="3590925"/>
            <a:ext cx="619125" cy="42862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800">
                <a:solidFill>
                  <a:srgbClr val="12677E"/>
                </a:solidFill>
                <a:latin typeface="Helvetica Neue"/>
                <a:ea typeface="Helvetica Neue"/>
                <a:cs typeface="Helvetica Neue"/>
                <a:sym typeface="Helvetica Neue"/>
              </a:rPr>
              <a:t>03</a:t>
            </a:r>
            <a:endParaRPr/>
          </a:p>
        </p:txBody>
      </p:sp>
      <p:sp>
        <p:nvSpPr>
          <p:cNvPr id="542" name="Google Shape;542;p28"/>
          <p:cNvSpPr/>
          <p:nvPr/>
        </p:nvSpPr>
        <p:spPr>
          <a:xfrm>
            <a:off x="1276350" y="3590925"/>
            <a:ext cx="10382250" cy="7810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250">
                <a:solidFill>
                  <a:srgbClr val="132F40"/>
                </a:solidFill>
                <a:latin typeface="Helvetica Neue"/>
                <a:ea typeface="Helvetica Neue"/>
                <a:cs typeface="Helvetica Neue"/>
                <a:sym typeface="Helvetica Neue"/>
              </a:rPr>
              <a:t>Browser: HTML én JSON zichtbaar</a:t>
            </a:r>
            <a:endParaRPr/>
          </a:p>
        </p:txBody>
      </p:sp>
      <p:sp>
        <p:nvSpPr>
          <p:cNvPr id="543" name="Google Shape;543;p28"/>
          <p:cNvSpPr/>
          <p:nvPr/>
        </p:nvSpPr>
        <p:spPr>
          <a:xfrm>
            <a:off x="533400" y="4838700"/>
            <a:ext cx="11125200" cy="1276350"/>
          </a:xfrm>
          <a:prstGeom prst="rect">
            <a:avLst/>
          </a:prstGeom>
          <a:solidFill>
            <a:srgbClr val="132F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8"/>
          <p:cNvSpPr/>
          <p:nvPr/>
        </p:nvSpPr>
        <p:spPr>
          <a:xfrm>
            <a:off x="762000" y="5010150"/>
            <a:ext cx="10668000" cy="933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get pods -o wide</a:t>
            </a:r>
            <a:endParaRPr/>
          </a:p>
          <a:p>
            <a:pPr indent="0" lvl="0" marL="0" marR="0" rtl="0" algn="l">
              <a:spcBef>
                <a:spcPts val="0"/>
              </a:spcBef>
              <a:spcAft>
                <a:spcPts val="0"/>
              </a:spcAft>
              <a:buNone/>
            </a:pPr>
            <a:r>
              <a:rPr b="0" lang="en-US" sz="1725">
                <a:solidFill>
                  <a:srgbClr val="FFFFFF"/>
                </a:solidFill>
                <a:latin typeface="Consolas"/>
                <a:ea typeface="Consolas"/>
                <a:cs typeface="Consolas"/>
                <a:sym typeface="Consolas"/>
              </a:rPr>
              <a:t>kubectl -n backend-workshop get svc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p29"/>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Extra voorbeeld: RabbitMQ als workload</a:t>
            </a:r>
            <a:endParaRPr b="1" sz="3225">
              <a:solidFill>
                <a:srgbClr val="132F40"/>
              </a:solidFill>
              <a:latin typeface="Helvetica Neue"/>
              <a:ea typeface="Helvetica Neue"/>
              <a:cs typeface="Helvetica Neue"/>
              <a:sym typeface="Helvetica Neue"/>
            </a:endParaRPr>
          </a:p>
          <a:p>
            <a:pPr indent="0" lvl="0" marL="0" marR="0" rtl="0" algn="l">
              <a:spcBef>
                <a:spcPts val="0"/>
              </a:spcBef>
              <a:spcAft>
                <a:spcPts val="0"/>
              </a:spcAft>
              <a:buNone/>
            </a:pPr>
            <a:r>
              <a:rPr b="1" lang="en-US" sz="1600">
                <a:solidFill>
                  <a:srgbClr val="132F40"/>
                </a:solidFill>
                <a:latin typeface="Helvetica Neue"/>
                <a:ea typeface="Helvetica Neue"/>
                <a:cs typeface="Helvetica Neue"/>
                <a:sym typeface="Helvetica Neue"/>
              </a:rPr>
              <a:t>een message broker: software die berichten tussen applicaties doorgeeft en tijdelijk kan bewaren.</a:t>
            </a:r>
            <a:endParaRPr b="1" sz="1600">
              <a:solidFill>
                <a:srgbClr val="132F40"/>
              </a:solidFill>
              <a:latin typeface="Helvetica Neue"/>
              <a:ea typeface="Helvetica Neue"/>
              <a:cs typeface="Helvetica Neue"/>
              <a:sym typeface="Helvetica Neue"/>
            </a:endParaRPr>
          </a:p>
        </p:txBody>
      </p:sp>
      <p:sp>
        <p:nvSpPr>
          <p:cNvPr id="551" name="Google Shape;551;p29"/>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3</a:t>
            </a:r>
            <a:endParaRPr/>
          </a:p>
        </p:txBody>
      </p:sp>
      <p:sp>
        <p:nvSpPr>
          <p:cNvPr id="552" name="Google Shape;552;p29"/>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29</a:t>
            </a:r>
            <a:endParaRPr/>
          </a:p>
        </p:txBody>
      </p:sp>
      <p:sp>
        <p:nvSpPr>
          <p:cNvPr id="553" name="Google Shape;553;p29"/>
          <p:cNvSpPr/>
          <p:nvPr/>
        </p:nvSpPr>
        <p:spPr>
          <a:xfrm>
            <a:off x="533400" y="2619375"/>
            <a:ext cx="3286125" cy="12573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685800" y="2714625"/>
            <a:ext cx="298132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Vooraf gekoppelde app</a:t>
            </a:r>
            <a:endParaRPr/>
          </a:p>
        </p:txBody>
      </p:sp>
      <p:sp>
        <p:nvSpPr>
          <p:cNvPr id="555" name="Google Shape;555;p29"/>
          <p:cNvSpPr/>
          <p:nvPr/>
        </p:nvSpPr>
        <p:spPr>
          <a:xfrm>
            <a:off x="685800" y="3124200"/>
            <a:ext cx="298132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Verstuurt berichten</a:t>
            </a:r>
            <a:endParaRPr/>
          </a:p>
        </p:txBody>
      </p:sp>
      <p:sp>
        <p:nvSpPr>
          <p:cNvPr id="556" name="Google Shape;556;p29"/>
          <p:cNvSpPr/>
          <p:nvPr/>
        </p:nvSpPr>
        <p:spPr>
          <a:xfrm>
            <a:off x="3952875" y="3105150"/>
            <a:ext cx="57150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9"/>
          <p:cNvSpPr/>
          <p:nvPr/>
        </p:nvSpPr>
        <p:spPr>
          <a:xfrm>
            <a:off x="4676775" y="2619375"/>
            <a:ext cx="3162300" cy="12573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9"/>
          <p:cNvSpPr/>
          <p:nvPr/>
        </p:nvSpPr>
        <p:spPr>
          <a:xfrm>
            <a:off x="4829175" y="2714625"/>
            <a:ext cx="2857500"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RabbitMQ</a:t>
            </a:r>
            <a:endParaRPr/>
          </a:p>
        </p:txBody>
      </p:sp>
      <p:sp>
        <p:nvSpPr>
          <p:cNvPr id="559" name="Google Shape;559;p29"/>
          <p:cNvSpPr/>
          <p:nvPr/>
        </p:nvSpPr>
        <p:spPr>
          <a:xfrm>
            <a:off x="4829175" y="3124200"/>
            <a:ext cx="28575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Bestaande workload</a:t>
            </a:r>
            <a:endParaRPr/>
          </a:p>
        </p:txBody>
      </p:sp>
      <p:sp>
        <p:nvSpPr>
          <p:cNvPr id="560" name="Google Shape;560;p29"/>
          <p:cNvSpPr/>
          <p:nvPr/>
        </p:nvSpPr>
        <p:spPr>
          <a:xfrm>
            <a:off x="7972425" y="3105150"/>
            <a:ext cx="571500" cy="228600"/>
          </a:xfrm>
          <a:prstGeom prst="rightArrow">
            <a:avLst>
              <a:gd fmla="val 50000" name="adj1"/>
              <a:gd fmla="val 50000" name="adj2"/>
            </a:avLst>
          </a:prstGeom>
          <a:solidFill>
            <a:srgbClr val="94A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9"/>
          <p:cNvSpPr/>
          <p:nvPr/>
        </p:nvSpPr>
        <p:spPr>
          <a:xfrm>
            <a:off x="8696325" y="2619375"/>
            <a:ext cx="2962275" cy="1257300"/>
          </a:xfrm>
          <a:prstGeom prst="rect">
            <a:avLst/>
          </a:prstGeom>
          <a:solidFill>
            <a:srgbClr val="F0F5F7"/>
          </a:solidFill>
          <a:ln cap="flat" cmpd="sng" w="19050">
            <a:solidFill>
              <a:srgbClr val="1267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9"/>
          <p:cNvSpPr/>
          <p:nvPr/>
        </p:nvSpPr>
        <p:spPr>
          <a:xfrm>
            <a:off x="8848725" y="2714625"/>
            <a:ext cx="2657475" cy="3619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100">
                <a:solidFill>
                  <a:srgbClr val="12677E"/>
                </a:solidFill>
                <a:latin typeface="Helvetica Neue"/>
                <a:ea typeface="Helvetica Neue"/>
                <a:cs typeface="Helvetica Neue"/>
                <a:sym typeface="Helvetica Neue"/>
              </a:rPr>
              <a:t>Beheerinterface</a:t>
            </a:r>
            <a:endParaRPr/>
          </a:p>
        </p:txBody>
      </p:sp>
      <p:sp>
        <p:nvSpPr>
          <p:cNvPr id="563" name="Google Shape;563;p29"/>
          <p:cNvSpPr/>
          <p:nvPr/>
        </p:nvSpPr>
        <p:spPr>
          <a:xfrm>
            <a:off x="8848725" y="3124200"/>
            <a:ext cx="265747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650">
                <a:solidFill>
                  <a:srgbClr val="132F40"/>
                </a:solidFill>
                <a:latin typeface="Helvetica Neue"/>
                <a:ea typeface="Helvetica Neue"/>
                <a:cs typeface="Helvetica Neue"/>
                <a:sym typeface="Helvetica Neue"/>
              </a:rPr>
              <a:t>Berichten zichtbaar</a:t>
            </a:r>
            <a:endParaRPr/>
          </a:p>
        </p:txBody>
      </p:sp>
      <p:sp>
        <p:nvSpPr>
          <p:cNvPr id="564" name="Google Shape;564;p29"/>
          <p:cNvSpPr/>
          <p:nvPr/>
        </p:nvSpPr>
        <p:spPr>
          <a:xfrm>
            <a:off x="533400" y="4591050"/>
            <a:ext cx="11125200" cy="6667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700">
                <a:solidFill>
                  <a:srgbClr val="12677E"/>
                </a:solidFill>
                <a:latin typeface="Helvetica Neue"/>
                <a:ea typeface="Helvetica Neue"/>
                <a:cs typeface="Helvetica Neue"/>
                <a:sym typeface="Helvetica Neue"/>
              </a:rPr>
              <a:t>Hetzelfde deploymentprincipe, een andere applicatie</a:t>
            </a:r>
            <a:endParaRPr/>
          </a:p>
        </p:txBody>
      </p:sp>
      <p:sp>
        <p:nvSpPr>
          <p:cNvPr id="565" name="Google Shape;565;p29"/>
          <p:cNvSpPr/>
          <p:nvPr/>
        </p:nvSpPr>
        <p:spPr>
          <a:xfrm>
            <a:off x="533400" y="5715000"/>
            <a:ext cx="1112520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950">
                <a:solidFill>
                  <a:srgbClr val="53616B"/>
                </a:solidFill>
                <a:latin typeface="Helvetica Neue"/>
                <a:ea typeface="Helvetica Neue"/>
                <a:cs typeface="Helvetica Neue"/>
                <a:sym typeface="Helvetica Neue"/>
              </a:rPr>
              <a:t>Alleen een korte demo; de Kubernetes-opdracht is al afgerond.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30"/>
          <p:cNvSpPr/>
          <p:nvPr/>
        </p:nvSpPr>
        <p:spPr>
          <a:xfrm>
            <a:off x="533400" y="533400"/>
            <a:ext cx="11125200" cy="95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3225">
                <a:solidFill>
                  <a:srgbClr val="132F40"/>
                </a:solidFill>
                <a:latin typeface="Helvetica Neue"/>
                <a:ea typeface="Helvetica Neue"/>
                <a:cs typeface="Helvetica Neue"/>
                <a:sym typeface="Helvetica Neue"/>
              </a:rPr>
              <a:t>Afgerond: een applicatie zelf deployen</a:t>
            </a:r>
            <a:endParaRPr/>
          </a:p>
        </p:txBody>
      </p:sp>
      <p:sp>
        <p:nvSpPr>
          <p:cNvPr id="572" name="Google Shape;572;p30"/>
          <p:cNvSpPr/>
          <p:nvPr/>
        </p:nvSpPr>
        <p:spPr>
          <a:xfrm>
            <a:off x="533400" y="6419850"/>
            <a:ext cx="9810750" cy="2095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3616B"/>
                </a:solidFill>
                <a:latin typeface="Helvetica Neue"/>
                <a:ea typeface="Helvetica Neue"/>
                <a:cs typeface="Helvetica Neue"/>
                <a:sym typeface="Helvetica Neue"/>
              </a:rPr>
              <a:t>EOM  ·  Kubernetes  ·  Stap 3</a:t>
            </a:r>
            <a:endParaRPr/>
          </a:p>
        </p:txBody>
      </p:sp>
      <p:sp>
        <p:nvSpPr>
          <p:cNvPr id="573" name="Google Shape;573;p30"/>
          <p:cNvSpPr/>
          <p:nvPr/>
        </p:nvSpPr>
        <p:spPr>
          <a:xfrm>
            <a:off x="11096625" y="6381750"/>
            <a:ext cx="571500" cy="266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425">
                <a:solidFill>
                  <a:srgbClr val="12677E"/>
                </a:solidFill>
                <a:latin typeface="Helvetica Neue"/>
                <a:ea typeface="Helvetica Neue"/>
                <a:cs typeface="Helvetica Neue"/>
                <a:sym typeface="Helvetica Neue"/>
              </a:rPr>
              <a:t>30</a:t>
            </a:r>
            <a:endParaRPr/>
          </a:p>
        </p:txBody>
      </p:sp>
      <p:sp>
        <p:nvSpPr>
          <p:cNvPr id="574" name="Google Shape;574;p30"/>
          <p:cNvSpPr/>
          <p:nvPr/>
        </p:nvSpPr>
        <p:spPr>
          <a:xfrm>
            <a:off x="857250" y="1828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237A56"/>
                </a:solidFill>
                <a:latin typeface="Helvetica Neue"/>
                <a:ea typeface="Helvetica Neue"/>
                <a:cs typeface="Helvetica Neue"/>
                <a:sym typeface="Helvetica Neue"/>
              </a:rPr>
              <a:t>SAS en Kubernetes</a:t>
            </a:r>
            <a:endParaRPr/>
          </a:p>
        </p:txBody>
      </p:sp>
      <p:sp>
        <p:nvSpPr>
          <p:cNvPr id="575" name="Google Shape;575;p30"/>
          <p:cNvSpPr/>
          <p:nvPr/>
        </p:nvSpPr>
        <p:spPr>
          <a:xfrm>
            <a:off x="6334125" y="1828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237A56"/>
                </a:solidFill>
                <a:latin typeface="Helvetica Neue"/>
                <a:ea typeface="Helvetica Neue"/>
                <a:cs typeface="Helvetica Neue"/>
                <a:sym typeface="Helvetica Neue"/>
              </a:rPr>
              <a:t>Begrijpen wat er draait</a:t>
            </a:r>
            <a:endParaRPr/>
          </a:p>
        </p:txBody>
      </p:sp>
      <p:sp>
        <p:nvSpPr>
          <p:cNvPr id="576" name="Google Shape;576;p30"/>
          <p:cNvSpPr/>
          <p:nvPr/>
        </p:nvSpPr>
        <p:spPr>
          <a:xfrm>
            <a:off x="2952750" y="2390775"/>
            <a:ext cx="228600" cy="257175"/>
          </a:xfrm>
          <a:prstGeom prst="downArrow">
            <a:avLst>
              <a:gd fmla="val 50000" name="adj1"/>
              <a:gd fmla="val 50000" name="adj2"/>
            </a:avLst>
          </a:prstGeom>
          <a:solidFill>
            <a:srgbClr val="237A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0"/>
          <p:cNvSpPr/>
          <p:nvPr/>
        </p:nvSpPr>
        <p:spPr>
          <a:xfrm>
            <a:off x="857250" y="2781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237A56"/>
                </a:solidFill>
                <a:latin typeface="Helvetica Neue"/>
                <a:ea typeface="Helvetica Neue"/>
                <a:cs typeface="Helvetica Neue"/>
                <a:sym typeface="Helvetica Neue"/>
              </a:rPr>
              <a:t>1  Bestaande image</a:t>
            </a:r>
            <a:endParaRPr/>
          </a:p>
        </p:txBody>
      </p:sp>
      <p:sp>
        <p:nvSpPr>
          <p:cNvPr id="578" name="Google Shape;578;p30"/>
          <p:cNvSpPr/>
          <p:nvPr/>
        </p:nvSpPr>
        <p:spPr>
          <a:xfrm>
            <a:off x="6334125" y="2781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237A56"/>
                </a:solidFill>
                <a:latin typeface="Helvetica Neue"/>
                <a:ea typeface="Helvetica Neue"/>
                <a:cs typeface="Helvetica Neue"/>
                <a:sym typeface="Helvetica Neue"/>
              </a:rPr>
              <a:t>ConfigMap, Deployment, Service, Ingress</a:t>
            </a:r>
            <a:endParaRPr/>
          </a:p>
        </p:txBody>
      </p:sp>
      <p:sp>
        <p:nvSpPr>
          <p:cNvPr id="579" name="Google Shape;579;p30"/>
          <p:cNvSpPr/>
          <p:nvPr/>
        </p:nvSpPr>
        <p:spPr>
          <a:xfrm>
            <a:off x="2952750" y="3343275"/>
            <a:ext cx="228600" cy="257175"/>
          </a:xfrm>
          <a:prstGeom prst="downArrow">
            <a:avLst>
              <a:gd fmla="val 50000" name="adj1"/>
              <a:gd fmla="val 50000" name="adj2"/>
            </a:avLst>
          </a:prstGeom>
          <a:solidFill>
            <a:srgbClr val="237A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0"/>
          <p:cNvSpPr/>
          <p:nvPr/>
        </p:nvSpPr>
        <p:spPr>
          <a:xfrm>
            <a:off x="857250" y="37338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237A56"/>
                </a:solidFill>
                <a:latin typeface="Helvetica Neue"/>
                <a:ea typeface="Helvetica Neue"/>
                <a:cs typeface="Helvetica Neue"/>
                <a:sym typeface="Helvetica Neue"/>
              </a:rPr>
              <a:t>2  Eigen image</a:t>
            </a:r>
            <a:endParaRPr/>
          </a:p>
        </p:txBody>
      </p:sp>
      <p:sp>
        <p:nvSpPr>
          <p:cNvPr id="581" name="Google Shape;581;p30"/>
          <p:cNvSpPr/>
          <p:nvPr/>
        </p:nvSpPr>
        <p:spPr>
          <a:xfrm>
            <a:off x="6334125" y="37338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237A56"/>
                </a:solidFill>
                <a:latin typeface="Helvetica Neue"/>
                <a:ea typeface="Helvetica Neue"/>
                <a:cs typeface="Helvetica Neue"/>
                <a:sym typeface="Helvetica Neue"/>
              </a:rPr>
              <a:t>Zelf bouwen en zelf deployen</a:t>
            </a:r>
            <a:endParaRPr/>
          </a:p>
        </p:txBody>
      </p:sp>
      <p:sp>
        <p:nvSpPr>
          <p:cNvPr id="582" name="Google Shape;582;p30"/>
          <p:cNvSpPr/>
          <p:nvPr/>
        </p:nvSpPr>
        <p:spPr>
          <a:xfrm>
            <a:off x="2952750" y="4295775"/>
            <a:ext cx="228600" cy="257175"/>
          </a:xfrm>
          <a:prstGeom prst="downArrow">
            <a:avLst>
              <a:gd fmla="val 50000" name="adj1"/>
              <a:gd fmla="val 50000" name="adj2"/>
            </a:avLst>
          </a:prstGeom>
          <a:solidFill>
            <a:srgbClr val="237A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0"/>
          <p:cNvSpPr/>
          <p:nvPr/>
        </p:nvSpPr>
        <p:spPr>
          <a:xfrm>
            <a:off x="857250" y="4686300"/>
            <a:ext cx="4572000"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2550">
                <a:solidFill>
                  <a:srgbClr val="237A56"/>
                </a:solidFill>
                <a:latin typeface="Helvetica Neue"/>
                <a:ea typeface="Helvetica Neue"/>
                <a:cs typeface="Helvetica Neue"/>
                <a:sym typeface="Helvetica Neue"/>
              </a:rPr>
              <a:t>3  Controleren</a:t>
            </a:r>
            <a:endParaRPr/>
          </a:p>
        </p:txBody>
      </p:sp>
      <p:sp>
        <p:nvSpPr>
          <p:cNvPr id="584" name="Google Shape;584;p30"/>
          <p:cNvSpPr/>
          <p:nvPr/>
        </p:nvSpPr>
        <p:spPr>
          <a:xfrm>
            <a:off x="6334125" y="4686300"/>
            <a:ext cx="5095875" cy="4762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2025">
                <a:solidFill>
                  <a:srgbClr val="237A56"/>
                </a:solidFill>
                <a:latin typeface="Helvetica Neue"/>
                <a:ea typeface="Helvetica Neue"/>
                <a:cs typeface="Helvetica Neue"/>
                <a:sym typeface="Helvetica Neue"/>
              </a:rPr>
              <a:t>Resultaat en verklaring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